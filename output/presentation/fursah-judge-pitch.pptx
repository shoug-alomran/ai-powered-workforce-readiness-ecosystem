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5cc88905b74fe2" /><Relationship Type="http://schemas.openxmlformats.org/officeDocument/2006/relationships/extended-properties" Target="/docProps/app.xml" Id="Rad8fbb9912c046a6" /><Relationship Type="http://schemas.openxmlformats.org/officeDocument/2006/relationships/officeDocument" Target="/ppt/presentation.xml" Id="R9fb6c10685524a3b" /></Relationships>
</file>

<file path=ppt/presentation.xml><?xml version="1.0" encoding="utf-8"?>
<p:presentation xmlns:p="http://schemas.openxmlformats.org/presentationml/2006/main">
  <p:sldMasterIdLst>
    <p:sldMasterId xmlns:r="http://schemas.openxmlformats.org/officeDocument/2006/relationships" id="2147483648" r:id="R1f3b061b6b7b4239"/>
  </p:sldMasterIdLst>
  <p:notesMasterIdLst>
    <p:notesMasterId xmlns:r="http://schemas.openxmlformats.org/officeDocument/2006/relationships" r:id="Re2f3627f4b434dfa"/>
  </p:notesMasterIdLst>
  <p:sldIdLst>
    <p:sldId xmlns:r="http://schemas.openxmlformats.org/officeDocument/2006/relationships" id="256" r:id="R6e920283c3574f98"/>
    <p:sldId xmlns:r="http://schemas.openxmlformats.org/officeDocument/2006/relationships" id="257" r:id="Rbd34cc0d593e4bcb"/>
    <p:sldId xmlns:r="http://schemas.openxmlformats.org/officeDocument/2006/relationships" id="258" r:id="R5a312d495b8f43c3"/>
    <p:sldId xmlns:r="http://schemas.openxmlformats.org/officeDocument/2006/relationships" id="259" r:id="Ra561cb4890274747"/>
    <p:sldId xmlns:r="http://schemas.openxmlformats.org/officeDocument/2006/relationships" id="260" r:id="R90463d787f6a4f4f"/>
    <p:sldId xmlns:r="http://schemas.openxmlformats.org/officeDocument/2006/relationships" id="261" r:id="R4ec677e02e9c426f"/>
    <p:sldId xmlns:r="http://schemas.openxmlformats.org/officeDocument/2006/relationships" id="262" r:id="R19b93f3565844dae"/>
    <p:sldId xmlns:r="http://schemas.openxmlformats.org/officeDocument/2006/relationships" id="263" r:id="R62f36ce98865456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16137d92a5c43f3" /><Relationship Type="http://schemas.openxmlformats.org/officeDocument/2006/relationships/slideMaster" Target="/ppt/slideMasters/slideMaster1.xml" Id="R1f3b061b6b7b4239" /><Relationship Type="http://schemas.openxmlformats.org/officeDocument/2006/relationships/notesMaster" Target="/ppt/notesMasters/notesMaster1.xml" Id="Re2f3627f4b434dfa" /><Relationship Type="http://schemas.openxmlformats.org/officeDocument/2006/relationships/presProps" Target="/ppt/presProps.xml" Id="Rfd893da96cbb4636" /><Relationship Type="http://schemas.openxmlformats.org/officeDocument/2006/relationships/tableStyles" Target="/ppt/tableStyles.xml" Id="R5b082e158dc04838" /><Relationship Type="http://schemas.openxmlformats.org/officeDocument/2006/relationships/slide" Target="/ppt/slides/slide1.xml" Id="R6e920283c3574f98" /><Relationship Type="http://schemas.openxmlformats.org/officeDocument/2006/relationships/slide" Target="/ppt/slides/slide2.xml" Id="Rbd34cc0d593e4bcb" /><Relationship Type="http://schemas.openxmlformats.org/officeDocument/2006/relationships/slide" Target="/ppt/slides/slide3.xml" Id="R5a312d495b8f43c3" /><Relationship Type="http://schemas.openxmlformats.org/officeDocument/2006/relationships/slide" Target="/ppt/slides/slide4.xml" Id="Ra561cb4890274747" /><Relationship Type="http://schemas.openxmlformats.org/officeDocument/2006/relationships/slide" Target="/ppt/slides/slide5.xml" Id="R90463d787f6a4f4f" /><Relationship Type="http://schemas.openxmlformats.org/officeDocument/2006/relationships/slide" Target="/ppt/slides/slide6.xml" Id="R4ec677e02e9c426f" /><Relationship Type="http://schemas.openxmlformats.org/officeDocument/2006/relationships/slide" Target="/ppt/slides/slide7.xml" Id="R19b93f3565844dae" /><Relationship Type="http://schemas.openxmlformats.org/officeDocument/2006/relationships/slide" Target="/ppt/slides/slide8.xml" Id="R62f36ce98865456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8ddfa970884a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9a817164c74639" /><Relationship Type="http://schemas.openxmlformats.org/officeDocument/2006/relationships/notesMaster" Target="/ppt/notesMasters/notesMaster1.xml" Id="R757a801cd7ec4daf" /></Relationships>
</file>

<file path=ppt/notesSlides/_rels/notesSlide2.xml.rels>&#65279;<?xml version="1.0" encoding="utf-8"?><Relationships xmlns="http://schemas.openxmlformats.org/package/2006/relationships"><Relationship Type="http://schemas.openxmlformats.org/officeDocument/2006/relationships/slide" Target="/ppt/slides/slide2.xml" Id="R8798a55b4c7643e7" /><Relationship Type="http://schemas.openxmlformats.org/officeDocument/2006/relationships/notesMaster" Target="/ppt/notesMasters/notesMaster1.xml" Id="R409cfae0297b44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4ebfa21bbf4cc5" /><Relationship Type="http://schemas.openxmlformats.org/officeDocument/2006/relationships/notesMaster" Target="/ppt/notesMasters/notesMaster1.xml" Id="Re9c166077e6f4c1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9d7e2febbf944e1" /><Relationship Type="http://schemas.openxmlformats.org/officeDocument/2006/relationships/notesMaster" Target="/ppt/notesMasters/notesMaster1.xml" Id="Re90acedc717d44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8f31eebbd556434f" /><Relationship Type="http://schemas.openxmlformats.org/officeDocument/2006/relationships/notesMaster" Target="/ppt/notesMasters/notesMaster1.xml" Id="Rd8d1b7e87ae44fdf" /></Relationships>
</file>

<file path=ppt/notesSlides/_rels/notesSlide6.xml.rels>&#65279;<?xml version="1.0" encoding="utf-8"?><Relationships xmlns="http://schemas.openxmlformats.org/package/2006/relationships"><Relationship Type="http://schemas.openxmlformats.org/officeDocument/2006/relationships/slide" Target="/ppt/slides/slide6.xml" Id="Rf3fe60774b7546e9" /><Relationship Type="http://schemas.openxmlformats.org/officeDocument/2006/relationships/notesMaster" Target="/ppt/notesMasters/notesMaster1.xml" Id="Rda3718689e4041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02f7b2da1c47b1" /><Relationship Type="http://schemas.openxmlformats.org/officeDocument/2006/relationships/notesMaster" Target="/ppt/notesMasters/notesMaster1.xml" Id="R9d433532d22a4c37" /></Relationships>
</file>

<file path=ppt/notesSlides/_rels/notesSlide8.xml.rels>&#65279;<?xml version="1.0" encoding="utf-8"?><Relationships xmlns="http://schemas.openxmlformats.org/package/2006/relationships"><Relationship Type="http://schemas.openxmlformats.org/officeDocument/2006/relationships/slide" Target="/ppt/slides/slide8.xml" Id="R6384ea693eeb49df" /><Relationship Type="http://schemas.openxmlformats.org/officeDocument/2006/relationships/notesMaster" Target="/ppt/notesMasters/notesMaster1.xml" Id="Re7794ffce69743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Fursah turns workforce evidence into an explainable readiness decision. In three minutes I will show the complete pipeline, the readiness model, our reusable knowledge base, and the policy actions produced from evidence.</a:t>
            </a:r>
          </a:p>
          <a:p xmlns:a="http://schemas.openxmlformats.org/drawingml/2006/main">
            <a:r>
              <a:t/>
            </a:r>
          </a:p>
          <a:p xmlns:a="http://schemas.openxmlformats.org/drawingml/2006/main">
            <a:r>
              <a:t>[Sources]</a:t>
            </a:r>
          </a:p>
          <a:p xmlns:a="http://schemas.openxmlformats.org/drawingml/2006/main">
            <a:r>
              <a:t>- https://www.itu.int/rec/T-REC-Y.3172</a:t>
            </a:r>
          </a:p>
          <a:p xmlns:a="http://schemas.openxmlformats.org/drawingml/2006/main">
            <a:r>
              <a:t>- https://aiforgood.itu.int/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is not lack of data. It is fragmentation. Fursah unifies academic evidence, role requirements, and proof of readiness so every recommendation has a visible reason and a next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boundary is central to trust. The deterministic readiness engine remains the system of record. The assistant can explain verified evidence, but cannot create competencies, scores, or achievements that are not stored.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standards page maps all seven Y.3172 pipeline nodes to specific prototype evidence. A judge can inspect each node and follow its implementation instead of accepting a slide-level claim.</a:t>
            </a:r>
          </a:p>
          <a:p xmlns:a="http://schemas.openxmlformats.org/drawingml/2006/main">
            <a:r>
              <a:t/>
            </a:r>
          </a:p>
          <a:p xmlns:a="http://schemas.openxmlformats.org/drawingml/2006/main">
            <a:r>
              <a:t>[Sources]</a:t>
            </a:r>
          </a:p>
          <a:p xmlns:a="http://schemas.openxmlformats.org/drawingml/2006/main">
            <a:r>
              <a:t>- https://www.itu.int/rec/T-REC-Y.3172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submission is organized around the official judging logic: the use case, the readiness mapping, the knowledge contribution, and policy input. The numbers on this slide are verified by the automated submission check.</a:t>
            </a:r>
          </a:p>
          <a:p xmlns:a="http://schemas.openxmlformats.org/drawingml/2006/main">
            <a:r>
              <a:t/>
            </a:r>
          </a:p>
          <a:p xmlns:a="http://schemas.openxmlformats.org/drawingml/2006/main">
            <a:r>
              <a:t>[Sources]</a:t>
            </a:r>
          </a:p>
          <a:p xmlns:a="http://schemas.openxmlformats.org/drawingml/2006/main">
            <a:r>
              <a:t>- https://aiforgood.itu.int/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Fursah covers thirteen readiness dimensions and exposes the underlying knowledge base as versioned JSON and CSV. That makes the contribution reusable, reviewable, and suitable for comparison or integration—not locked inside the 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Policy output is operational, not aspirational. Each gap includes an accountable owner, a trigger, a metric, and a review cadence. This supports real governance conversations while staying honest that institutional validation is the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strongest way to evaluate Fursah is live: start at the judge route, inspect the standards evidence, export the knowledge base, then ask the assistant to explain a recommendation. Our remaining limitation is also explicit: production impact requires a controlled institutional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41961fbfd7473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f6052041174ad5" /><Relationship Type="http://schemas.openxmlformats.org/officeDocument/2006/relationships/slideLayout" Target="/ppt/slideLayouts/slideLayout1.xml" Id="Ra54277e0505f496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4277e0505f496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c1465e08ad64810" /><Relationship Type="http://schemas.openxmlformats.org/officeDocument/2006/relationships/notesSlide" Target="/ppt/notesSlides/notesSlide1.xml" Id="Rb06efcb560c648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e2774ca030c403a" /><Relationship Type="http://schemas.openxmlformats.org/officeDocument/2006/relationships/notesSlide" Target="/ppt/notesSlides/notesSlide2.xml" Id="R0af2ce3eb08249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46e22321da1407f" /><Relationship Type="http://schemas.openxmlformats.org/officeDocument/2006/relationships/notesSlide" Target="/ppt/notesSlides/notesSlide3.xml" Id="Re25699e9da0747d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3324fe253a24868" /><Relationship Type="http://schemas.openxmlformats.org/officeDocument/2006/relationships/notesSlide" Target="/ppt/notesSlides/notesSlide4.xml" Id="Rb3477ba64f9843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f840ca13580414a" /><Relationship Type="http://schemas.openxmlformats.org/officeDocument/2006/relationships/notesSlide" Target="/ppt/notesSlides/notesSlide5.xml" Id="Rad515e9143464b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c259f74f750457a" /><Relationship Type="http://schemas.openxmlformats.org/officeDocument/2006/relationships/notesSlide" Target="/ppt/notesSlides/notesSlide6.xml" Id="R6c35ea1ba9ae43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0a6beda2c474305" /><Relationship Type="http://schemas.openxmlformats.org/officeDocument/2006/relationships/notesSlide" Target="/ppt/notesSlides/notesSlide7.xml" Id="Rf0b29172130644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d42694100904c6e" /><Relationship Type="http://schemas.openxmlformats.org/officeDocument/2006/relationships/notesSlide" Target="/ppt/notesSlides/notesSlide8.xml" Id="R038e70bc5a7e463d" /></Relationships>
</file>

<file path=ppt/slides/slide1.xml><?xml version="1.0" encoding="utf-8"?>
<p:sld xmlns:p="http://schemas.openxmlformats.org/presentationml/2006/main">
  <p:cSld>
    <p:bg>
      <p:bgPr>
        <a:solidFill xmlns:a="http://schemas.openxmlformats.org/drawingml/2006/main">
          <a:srgbClr val="0B1F3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B4C202A-81D6-481F-A8AE-81BCD87FDD0B}"/>
              </a:ext>
            </a:extLst>
          </p:cNvPr>
          <p:cNvSpPr>
            <a:spLocks xmlns:a="http://schemas.openxmlformats.org/drawingml/2006/main" noGrp="1"/>
          </p:cNvSpPr>
          <p:nvPr/>
        </p:nvSpPr>
        <p:spPr>
          <a:xfrm xmlns:a="http://schemas.openxmlformats.org/drawingml/2006/main">
            <a:off x="666750" y="5905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2B8C4"/>
                </a:solidFill>
              </a:defRPr>
            </a:pPr>
            <a:r>
              <a:rPr sz="1125" b="1">
                <a:solidFill>
                  <a:srgbClr val="12B8C4"/>
                </a:solidFill>
              </a:rPr>
              <a:t>FURSAH</a:t>
            </a:r>
          </a:p>
        </p:txBody>
      </p:sp>
      <p:sp>
        <p:nvSpPr>
          <p:cNvPr id="2" name="">
            <a:extLst xmlns:a="http://schemas.openxmlformats.org/drawingml/2006/main">
              <a:ext uri="{FF2B5EF4-FFF2-40B4-BE49-F238E27FC236}">
                <a16:creationId xmlns:a16="http://schemas.microsoft.com/office/drawing/2014/main" id="{A7D0A8F9-FC62-47C0-9C39-71853FC2E3E1}"/>
              </a:ext>
            </a:extLst>
          </p:cNvPr>
          <p:cNvSpPr>
            <a:spLocks xmlns:a="http://schemas.openxmlformats.org/drawingml/2006/main" noGrp="1"/>
          </p:cNvSpPr>
          <p:nvPr/>
        </p:nvSpPr>
        <p:spPr>
          <a:xfrm xmlns:a="http://schemas.openxmlformats.org/drawingml/2006/main">
            <a:off x="666750" y="1428750"/>
            <a:ext cx="68580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900" b="1">
                <a:solidFill>
                  <a:srgbClr val="FFFFFF"/>
                </a:solidFill>
              </a:defRPr>
            </a:pPr>
            <a:r>
              <a:rPr sz="3900" b="1">
                <a:solidFill>
                  <a:srgbClr val="FFFFFF"/>
                </a:solidFill>
              </a:rPr>
              <a:t>From evidence to</a:t>
            </a:r>
          </a:p>
          <a:p xmlns:a="http://schemas.openxmlformats.org/drawingml/2006/main">
            <a:pPr algn="l">
              <a:defRPr sz="3900" b="1">
                <a:solidFill>
                  <a:srgbClr val="FFFFFF"/>
                </a:solidFill>
              </a:defRPr>
            </a:pPr>
            <a:r>
              <a:rPr sz="3900" b="1">
                <a:solidFill>
                  <a:srgbClr val="FFFFFF"/>
                </a:solidFill>
              </a:rPr>
              <a:t>workforce readiness</a:t>
            </a:r>
          </a:p>
        </p:txBody>
      </p:sp>
      <p:sp>
        <p:nvSpPr>
          <p:cNvPr id="3" name="">
            <a:extLst xmlns:a="http://schemas.openxmlformats.org/drawingml/2006/main">
              <a:ext uri="{FF2B5EF4-FFF2-40B4-BE49-F238E27FC236}">
                <a16:creationId xmlns:a16="http://schemas.microsoft.com/office/drawing/2014/main" id="{2209CA98-AA15-4D64-ADA0-CD4E1C7822C8}"/>
              </a:ext>
            </a:extLst>
          </p:cNvPr>
          <p:cNvSpPr>
            <a:spLocks xmlns:a="http://schemas.openxmlformats.org/drawingml/2006/main" noGrp="1"/>
          </p:cNvSpPr>
          <p:nvPr/>
        </p:nvSpPr>
        <p:spPr>
          <a:xfrm xmlns:a="http://schemas.openxmlformats.org/drawingml/2006/main">
            <a:off x="685800" y="3371850"/>
            <a:ext cx="6286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C7D6EA"/>
                </a:solidFill>
              </a:defRPr>
            </a:pPr>
            <a:r>
              <a:rPr sz="1650" b="0">
                <a:solidFill>
                  <a:srgbClr val="C7D6EA"/>
                </a:solidFill>
              </a:rPr>
              <a:t>A judge-ready, auditable implementation of the ITU-T Y.3172 machine-learning pipeline.</a:t>
            </a:r>
          </a:p>
        </p:txBody>
      </p:sp>
      <p:sp>
        <p:nvSpPr>
          <p:cNvPr id="4" name="">
            <a:extLst xmlns:a="http://schemas.openxmlformats.org/drawingml/2006/main">
              <a:ext uri="{FF2B5EF4-FFF2-40B4-BE49-F238E27FC236}">
                <a16:creationId xmlns:a16="http://schemas.microsoft.com/office/drawing/2014/main" id="{8C53DA4F-6EE2-40EA-8F25-D1213A28CDFE}"/>
              </a:ext>
            </a:extLst>
          </p:cNvPr>
          <p:cNvSpPr>
            <a:spLocks xmlns:a="http://schemas.openxmlformats.org/drawingml/2006/main" noGrp="1"/>
          </p:cNvSpPr>
          <p:nvPr/>
        </p:nvSpPr>
        <p:spPr>
          <a:xfrm xmlns:a="http://schemas.openxmlformats.org/drawingml/2006/main">
            <a:off x="8153400" y="1104900"/>
            <a:ext cx="2857500" cy="3619500"/>
          </a:xfrm>
          <a:prstGeom xmlns:a="http://schemas.openxmlformats.org/drawingml/2006/main" prst="roundRect">
            <a:avLst>
              <a:gd name="adj" fmla="val 5333"/>
            </a:avLst>
          </a:prstGeom>
          <a:solidFill xmlns:a="http://schemas.openxmlformats.org/drawingml/2006/main">
            <a:srgbClr val="1769E0"/>
          </a:solidFill>
          <a:ln xmlns:a="http://schemas.openxmlformats.org/drawingml/2006/main" w="9525">
            <a:solidFill>
              <a:srgbClr val="1769E0"/>
            </a:solidFill>
            <a:prstDash val="solid"/>
          </a:ln>
        </p:spPr>
      </p:sp>
      <p:sp>
        <p:nvSpPr>
          <p:cNvPr id="5" name="">
            <a:extLst xmlns:a="http://schemas.openxmlformats.org/drawingml/2006/main">
              <a:ext uri="{FF2B5EF4-FFF2-40B4-BE49-F238E27FC236}">
                <a16:creationId xmlns:a16="http://schemas.microsoft.com/office/drawing/2014/main" id="{60D93705-121D-48E6-9445-99C3D82F619F}"/>
              </a:ext>
            </a:extLst>
          </p:cNvPr>
          <p:cNvSpPr>
            <a:spLocks xmlns:a="http://schemas.openxmlformats.org/drawingml/2006/main" noGrp="1"/>
          </p:cNvSpPr>
          <p:nvPr/>
        </p:nvSpPr>
        <p:spPr>
          <a:xfrm xmlns:a="http://schemas.openxmlformats.org/drawingml/2006/main">
            <a:off x="8515350" y="1504950"/>
            <a:ext cx="2133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5100" b="1">
                <a:solidFill>
                  <a:srgbClr val="FFFFFF"/>
                </a:solidFill>
              </a:defRPr>
            </a:pPr>
            <a:r>
              <a:rPr sz="5100" b="1">
                <a:solidFill>
                  <a:srgbClr val="FFFFFF"/>
                </a:solidFill>
              </a:rPr>
              <a:t>7/7</a:t>
            </a:r>
          </a:p>
        </p:txBody>
      </p:sp>
      <p:sp>
        <p:nvSpPr>
          <p:cNvPr id="6" name="">
            <a:extLst xmlns:a="http://schemas.openxmlformats.org/drawingml/2006/main">
              <a:ext uri="{FF2B5EF4-FFF2-40B4-BE49-F238E27FC236}">
                <a16:creationId xmlns:a16="http://schemas.microsoft.com/office/drawing/2014/main" id="{3EDD0677-07A5-48B1-B5C6-DA7A384DA599}"/>
              </a:ext>
            </a:extLst>
          </p:cNvPr>
          <p:cNvSpPr>
            <a:spLocks xmlns:a="http://schemas.openxmlformats.org/drawingml/2006/main" noGrp="1"/>
          </p:cNvSpPr>
          <p:nvPr/>
        </p:nvSpPr>
        <p:spPr>
          <a:xfrm xmlns:a="http://schemas.openxmlformats.org/drawingml/2006/main">
            <a:off x="8515350" y="2552700"/>
            <a:ext cx="2133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Y.3172 pipeline nodes</a:t>
            </a:r>
          </a:p>
          <a:p xmlns:a="http://schemas.openxmlformats.org/drawingml/2006/main">
            <a:pPr algn="ctr">
              <a:defRPr sz="1500" b="1">
                <a:solidFill>
                  <a:srgbClr val="FFFFFF"/>
                </a:solidFill>
              </a:defRPr>
            </a:pPr>
            <a:r>
              <a:rPr sz="1500" b="1">
                <a:solidFill>
                  <a:srgbClr val="FFFFFF"/>
                </a:solidFill>
              </a:rPr>
              <a:t>represented end to end</a:t>
            </a:r>
          </a:p>
        </p:txBody>
      </p:sp>
      <p:sp>
        <p:nvSpPr>
          <p:cNvPr id="7" name="">
            <a:extLst xmlns:a="http://schemas.openxmlformats.org/drawingml/2006/main">
              <a:ext uri="{FF2B5EF4-FFF2-40B4-BE49-F238E27FC236}">
                <a16:creationId xmlns:a16="http://schemas.microsoft.com/office/drawing/2014/main" id="{FFF74081-E2B7-49A9-AD79-36729305B67B}"/>
              </a:ext>
            </a:extLst>
          </p:cNvPr>
          <p:cNvSpPr>
            <a:spLocks xmlns:a="http://schemas.openxmlformats.org/drawingml/2006/main" noGrp="1"/>
          </p:cNvSpPr>
          <p:nvPr/>
        </p:nvSpPr>
        <p:spPr>
          <a:xfrm xmlns:a="http://schemas.openxmlformats.org/drawingml/2006/main">
            <a:off x="8515350" y="3476625"/>
            <a:ext cx="2133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300" b="1">
                <a:solidFill>
                  <a:srgbClr val="FFFFFF"/>
                </a:solidFill>
              </a:defRPr>
            </a:pPr>
            <a:r>
              <a:rPr sz="3300" b="1">
                <a:solidFill>
                  <a:srgbClr val="FFFFFF"/>
                </a:solidFill>
              </a:rPr>
              <a:t>13/13</a:t>
            </a:r>
          </a:p>
        </p:txBody>
      </p:sp>
      <p:sp>
        <p:nvSpPr>
          <p:cNvPr id="8" name="">
            <a:extLst xmlns:a="http://schemas.openxmlformats.org/drawingml/2006/main">
              <a:ext uri="{FF2B5EF4-FFF2-40B4-BE49-F238E27FC236}">
                <a16:creationId xmlns:a16="http://schemas.microsoft.com/office/drawing/2014/main" id="{6AEDB2FA-3591-4565-A84C-83019CD24159}"/>
              </a:ext>
            </a:extLst>
          </p:cNvPr>
          <p:cNvSpPr>
            <a:spLocks xmlns:a="http://schemas.openxmlformats.org/drawingml/2006/main" noGrp="1"/>
          </p:cNvSpPr>
          <p:nvPr/>
        </p:nvSpPr>
        <p:spPr>
          <a:xfrm xmlns:a="http://schemas.openxmlformats.org/drawingml/2006/main">
            <a:off x="8515350" y="4133850"/>
            <a:ext cx="213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FFFFFF"/>
                </a:solidFill>
              </a:defRPr>
            </a:pPr>
            <a:r>
              <a:rPr sz="1350" b="0">
                <a:solidFill>
                  <a:srgbClr val="FFFFFF"/>
                </a:solidFill>
              </a:rPr>
              <a:t>readiness dimensions</a:t>
            </a:r>
          </a:p>
        </p:txBody>
      </p:sp>
      <p:sp>
        <p:nvSpPr>
          <p:cNvPr id="9" name="">
            <a:extLst xmlns:a="http://schemas.openxmlformats.org/drawingml/2006/main">
              <a:ext uri="{FF2B5EF4-FFF2-40B4-BE49-F238E27FC236}">
                <a16:creationId xmlns:a16="http://schemas.microsoft.com/office/drawing/2014/main" id="{86CC2417-DB12-48B7-9C13-134698588C0B}"/>
              </a:ext>
            </a:extLst>
          </p:cNvPr>
          <p:cNvSpPr>
            <a:spLocks xmlns:a="http://schemas.openxmlformats.org/drawingml/2006/main" noGrp="1"/>
          </p:cNvSpPr>
          <p:nvPr/>
        </p:nvSpPr>
        <p:spPr>
          <a:xfrm xmlns:a="http://schemas.openxmlformats.org/drawingml/2006/main">
            <a:off x="666750" y="603885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12B8C4"/>
                </a:solidFill>
              </a:defRPr>
            </a:pPr>
            <a:r>
              <a:rPr sz="975" b="1">
                <a:solidFill>
                  <a:srgbClr val="12B8C4"/>
                </a:solidFill>
              </a:rPr>
              <a:t>LIVE PROTOTYPE · fursah.org</a:t>
            </a:r>
          </a:p>
        </p:txBody>
      </p:sp>
    </p:spTree>
    <p:extLst>
      <p:ext uri="{BB962C8B-B14F-4D97-AF65-F5344CB8AC3E}">
        <p14:creationId xmlns:p14="http://schemas.microsoft.com/office/powerpoint/2010/main" val="10831566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D241847-61A2-40CD-A762-7E1E27C8615B}"/>
              </a:ext>
            </a:extLst>
          </p:cNvPr>
          <p:cNvSpPr>
            <a:spLocks xmlns:a="http://schemas.openxmlformats.org/drawingml/2006/main" noGrp="1"/>
          </p:cNvSpPr>
          <p:nvPr/>
        </p:nvSpPr>
        <p:spPr>
          <a:xfrm xmlns:a="http://schemas.openxmlformats.org/drawingml/2006/main">
            <a:off x="609600" y="38100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1769E0"/>
                </a:solidFill>
              </a:defRPr>
            </a:pPr>
            <a:r>
              <a:rPr sz="975" b="1">
                <a:solidFill>
                  <a:srgbClr val="1769E0"/>
                </a:solidFill>
              </a:rPr>
              <a:t>01 · THE USE CASE</a:t>
            </a:r>
          </a:p>
        </p:txBody>
      </p:sp>
      <p:sp>
        <p:nvSpPr>
          <p:cNvPr id="2" name="">
            <a:extLst xmlns:a="http://schemas.openxmlformats.org/drawingml/2006/main">
              <a:ext uri="{FF2B5EF4-FFF2-40B4-BE49-F238E27FC236}">
                <a16:creationId xmlns:a16="http://schemas.microsoft.com/office/drawing/2014/main" id="{34288564-FCB5-4F36-B295-D5D53BD131B1}"/>
              </a:ext>
            </a:extLst>
          </p:cNvPr>
          <p:cNvSpPr>
            <a:spLocks xmlns:a="http://schemas.openxmlformats.org/drawingml/2006/main" noGrp="1"/>
          </p:cNvSpPr>
          <p:nvPr/>
        </p:nvSpPr>
        <p:spPr>
          <a:xfrm xmlns:a="http://schemas.openxmlformats.org/drawingml/2006/main">
            <a:off x="609600" y="74295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B1F3A"/>
                </a:solidFill>
              </a:defRPr>
            </a:pPr>
            <a:r>
              <a:rPr sz="2700" b="1">
                <a:solidFill>
                  <a:srgbClr val="0B1F3A"/>
                </a:solidFill>
              </a:rPr>
              <a:t>One decision, three fragmented evidence streams</a:t>
            </a:r>
          </a:p>
        </p:txBody>
      </p:sp>
      <p:sp>
        <p:nvSpPr>
          <p:cNvPr id="3" name="">
            <a:extLst xmlns:a="http://schemas.openxmlformats.org/drawingml/2006/main">
              <a:ext uri="{FF2B5EF4-FFF2-40B4-BE49-F238E27FC236}">
                <a16:creationId xmlns:a16="http://schemas.microsoft.com/office/drawing/2014/main" id="{5D8674BF-B9D1-493B-9AEC-D80ECE37F31F}"/>
              </a:ext>
            </a:extLst>
          </p:cNvPr>
          <p:cNvSpPr>
            <a:spLocks xmlns:a="http://schemas.openxmlformats.org/drawingml/2006/main" noGrp="1"/>
          </p:cNvSpPr>
          <p:nvPr/>
        </p:nvSpPr>
        <p:spPr>
          <a:xfrm xmlns:a="http://schemas.openxmlformats.org/drawingml/2006/main">
            <a:off x="11182350" y="40005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F6B7A"/>
                </a:solidFill>
              </a:defRPr>
            </a:pPr>
            <a:r>
              <a:rPr sz="900" b="1">
                <a:solidFill>
                  <a:srgbClr val="5F6B7A"/>
                </a:solidFill>
              </a:rPr>
              <a:t>02</a:t>
            </a:r>
          </a:p>
        </p:txBody>
      </p:sp>
      <p:sp>
        <p:nvSpPr>
          <p:cNvPr id="4" name="">
            <a:extLst xmlns:a="http://schemas.openxmlformats.org/drawingml/2006/main">
              <a:ext uri="{FF2B5EF4-FFF2-40B4-BE49-F238E27FC236}">
                <a16:creationId xmlns:a16="http://schemas.microsoft.com/office/drawing/2014/main" id="{449BC630-B00E-40DC-9D24-EC78033055B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1EC"/>
            </a:solidFill>
            <a:prstDash val="solid"/>
          </a:ln>
        </p:spPr>
      </p:sp>
      <p:sp>
        <p:nvSpPr>
          <p:cNvPr id="5" name="">
            <a:extLst xmlns:a="http://schemas.openxmlformats.org/drawingml/2006/main">
              <a:ext uri="{FF2B5EF4-FFF2-40B4-BE49-F238E27FC236}">
                <a16:creationId xmlns:a16="http://schemas.microsoft.com/office/drawing/2014/main" id="{195C3D17-8566-43EE-8F59-F02552B69FC4}"/>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6B7A"/>
                </a:solidFill>
              </a:defRPr>
            </a:pPr>
            <a:r>
              <a:rPr sz="750" b="1">
                <a:solidFill>
                  <a:srgbClr val="5F6B7A"/>
                </a:solidFill>
              </a:rPr>
              <a:t>FURSAH · AI-POWERED WORKFORCE READINESS</a:t>
            </a:r>
          </a:p>
        </p:txBody>
      </p:sp>
      <p:sp>
        <p:nvSpPr>
          <p:cNvPr id="6" name="">
            <a:extLst xmlns:a="http://schemas.openxmlformats.org/drawingml/2006/main">
              <a:ext uri="{FF2B5EF4-FFF2-40B4-BE49-F238E27FC236}">
                <a16:creationId xmlns:a16="http://schemas.microsoft.com/office/drawing/2014/main" id="{D0A9761B-F7BF-4630-8E8E-C4FC34715E59}"/>
              </a:ext>
            </a:extLst>
          </p:cNvPr>
          <p:cNvSpPr>
            <a:spLocks xmlns:a="http://schemas.openxmlformats.org/drawingml/2006/main" noGrp="1"/>
          </p:cNvSpPr>
          <p:nvPr/>
        </p:nvSpPr>
        <p:spPr>
          <a:xfrm xmlns:a="http://schemas.openxmlformats.org/drawingml/2006/main">
            <a:off x="609600" y="1695450"/>
            <a:ext cx="3333750" cy="24574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D8E1EC"/>
            </a:solidFill>
            <a:prstDash val="solid"/>
          </a:ln>
        </p:spPr>
      </p:sp>
      <p:sp>
        <p:nvSpPr>
          <p:cNvPr id="7" name="">
            <a:extLst xmlns:a="http://schemas.openxmlformats.org/drawingml/2006/main">
              <a:ext uri="{FF2B5EF4-FFF2-40B4-BE49-F238E27FC236}">
                <a16:creationId xmlns:a16="http://schemas.microsoft.com/office/drawing/2014/main" id="{A950825F-2F38-494E-A763-F9F70BF75F3E}"/>
              </a:ext>
            </a:extLst>
          </p:cNvPr>
          <p:cNvSpPr>
            <a:spLocks xmlns:a="http://schemas.openxmlformats.org/drawingml/2006/main" noGrp="1"/>
          </p:cNvSpPr>
          <p:nvPr/>
        </p:nvSpPr>
        <p:spPr>
          <a:xfrm xmlns:a="http://schemas.openxmlformats.org/drawingml/2006/main">
            <a:off x="838200" y="18859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769E0"/>
                </a:solidFill>
              </a:defRPr>
            </a:pPr>
            <a:r>
              <a:rPr sz="1050" b="1">
                <a:solidFill>
                  <a:srgbClr val="1769E0"/>
                </a:solidFill>
              </a:rPr>
              <a:t>01</a:t>
            </a:r>
          </a:p>
        </p:txBody>
      </p:sp>
      <p:sp>
        <p:nvSpPr>
          <p:cNvPr id="8" name="">
            <a:extLst xmlns:a="http://schemas.openxmlformats.org/drawingml/2006/main">
              <a:ext uri="{FF2B5EF4-FFF2-40B4-BE49-F238E27FC236}">
                <a16:creationId xmlns:a16="http://schemas.microsoft.com/office/drawing/2014/main" id="{DA521A0C-4462-4E39-9A54-DEB0EC848F3D}"/>
              </a:ext>
            </a:extLst>
          </p:cNvPr>
          <p:cNvSpPr>
            <a:spLocks xmlns:a="http://schemas.openxmlformats.org/drawingml/2006/main" noGrp="1"/>
          </p:cNvSpPr>
          <p:nvPr/>
        </p:nvSpPr>
        <p:spPr>
          <a:xfrm xmlns:a="http://schemas.openxmlformats.org/drawingml/2006/main">
            <a:off x="838200" y="2343150"/>
            <a:ext cx="285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1F3A"/>
                </a:solidFill>
              </a:defRPr>
            </a:pPr>
            <a:r>
              <a:rPr sz="1800" b="1">
                <a:solidFill>
                  <a:srgbClr val="0B1F3A"/>
                </a:solidFill>
              </a:rPr>
              <a:t>Academic evidence</a:t>
            </a:r>
          </a:p>
        </p:txBody>
      </p:sp>
      <p:sp>
        <p:nvSpPr>
          <p:cNvPr id="9" name="">
            <a:extLst xmlns:a="http://schemas.openxmlformats.org/drawingml/2006/main">
              <a:ext uri="{FF2B5EF4-FFF2-40B4-BE49-F238E27FC236}">
                <a16:creationId xmlns:a16="http://schemas.microsoft.com/office/drawing/2014/main" id="{FEDB1F90-E28C-4C95-9700-1257D8E21C2B}"/>
              </a:ext>
            </a:extLst>
          </p:cNvPr>
          <p:cNvSpPr>
            <a:spLocks xmlns:a="http://schemas.openxmlformats.org/drawingml/2006/main" noGrp="1"/>
          </p:cNvSpPr>
          <p:nvPr/>
        </p:nvSpPr>
        <p:spPr>
          <a:xfrm xmlns:a="http://schemas.openxmlformats.org/drawingml/2006/main">
            <a:off x="838200" y="2914650"/>
            <a:ext cx="2857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F6B7A"/>
                </a:solidFill>
              </a:defRPr>
            </a:pPr>
            <a:r>
              <a:rPr sz="1350" b="0">
                <a:solidFill>
                  <a:srgbClr val="5F6B7A"/>
                </a:solidFill>
              </a:rPr>
              <a:t>Courses and mastery signals rarely translate cleanly into employability evidence.</a:t>
            </a:r>
          </a:p>
        </p:txBody>
      </p:sp>
      <p:sp>
        <p:nvSpPr>
          <p:cNvPr id="10" name="">
            <a:extLst xmlns:a="http://schemas.openxmlformats.org/drawingml/2006/main">
              <a:ext uri="{FF2B5EF4-FFF2-40B4-BE49-F238E27FC236}">
                <a16:creationId xmlns:a16="http://schemas.microsoft.com/office/drawing/2014/main" id="{245BB255-CD4E-41E8-949E-D8581823C8DB}"/>
              </a:ext>
            </a:extLst>
          </p:cNvPr>
          <p:cNvSpPr>
            <a:spLocks xmlns:a="http://schemas.openxmlformats.org/drawingml/2006/main" noGrp="1"/>
          </p:cNvSpPr>
          <p:nvPr/>
        </p:nvSpPr>
        <p:spPr>
          <a:xfrm xmlns:a="http://schemas.openxmlformats.org/drawingml/2006/main">
            <a:off x="4248150" y="1695450"/>
            <a:ext cx="3333750" cy="2457450"/>
          </a:xfrm>
          <a:prstGeom xmlns:a="http://schemas.openxmlformats.org/drawingml/2006/main" prst="roundRect">
            <a:avLst>
              <a:gd name="adj" fmla="val 4651"/>
            </a:avLst>
          </a:prstGeom>
          <a:solidFill xmlns:a="http://schemas.openxmlformats.org/drawingml/2006/main">
            <a:srgbClr val="EAF2FF"/>
          </a:solidFill>
          <a:ln xmlns:a="http://schemas.openxmlformats.org/drawingml/2006/main" w="9525">
            <a:solidFill>
              <a:srgbClr val="D8E1EC"/>
            </a:solidFill>
            <a:prstDash val="solid"/>
          </a:ln>
        </p:spPr>
      </p:sp>
      <p:sp>
        <p:nvSpPr>
          <p:cNvPr id="11" name="">
            <a:extLst xmlns:a="http://schemas.openxmlformats.org/drawingml/2006/main">
              <a:ext uri="{FF2B5EF4-FFF2-40B4-BE49-F238E27FC236}">
                <a16:creationId xmlns:a16="http://schemas.microsoft.com/office/drawing/2014/main" id="{6C46B985-93E4-48DA-98BD-FC23CFCED73B}"/>
              </a:ext>
            </a:extLst>
          </p:cNvPr>
          <p:cNvSpPr>
            <a:spLocks xmlns:a="http://schemas.openxmlformats.org/drawingml/2006/main" noGrp="1"/>
          </p:cNvSpPr>
          <p:nvPr/>
        </p:nvSpPr>
        <p:spPr>
          <a:xfrm xmlns:a="http://schemas.openxmlformats.org/drawingml/2006/main">
            <a:off x="4476750" y="18859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769E0"/>
                </a:solidFill>
              </a:defRPr>
            </a:pPr>
            <a:r>
              <a:rPr sz="1050" b="1">
                <a:solidFill>
                  <a:srgbClr val="1769E0"/>
                </a:solidFill>
              </a:rPr>
              <a:t>02</a:t>
            </a:r>
          </a:p>
        </p:txBody>
      </p:sp>
      <p:sp>
        <p:nvSpPr>
          <p:cNvPr id="12" name="">
            <a:extLst xmlns:a="http://schemas.openxmlformats.org/drawingml/2006/main">
              <a:ext uri="{FF2B5EF4-FFF2-40B4-BE49-F238E27FC236}">
                <a16:creationId xmlns:a16="http://schemas.microsoft.com/office/drawing/2014/main" id="{221F5F7C-7671-4129-BB0D-BC09A1C7EE80}"/>
              </a:ext>
            </a:extLst>
          </p:cNvPr>
          <p:cNvSpPr>
            <a:spLocks xmlns:a="http://schemas.openxmlformats.org/drawingml/2006/main" noGrp="1"/>
          </p:cNvSpPr>
          <p:nvPr/>
        </p:nvSpPr>
        <p:spPr>
          <a:xfrm xmlns:a="http://schemas.openxmlformats.org/drawingml/2006/main">
            <a:off x="4476750" y="2343150"/>
            <a:ext cx="285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1F3A"/>
                </a:solidFill>
              </a:defRPr>
            </a:pPr>
            <a:r>
              <a:rPr sz="1800" b="1">
                <a:solidFill>
                  <a:srgbClr val="0B1F3A"/>
                </a:solidFill>
              </a:rPr>
              <a:t>Career requirements</a:t>
            </a:r>
          </a:p>
        </p:txBody>
      </p:sp>
      <p:sp>
        <p:nvSpPr>
          <p:cNvPr id="13" name="">
            <a:extLst xmlns:a="http://schemas.openxmlformats.org/drawingml/2006/main">
              <a:ext uri="{FF2B5EF4-FFF2-40B4-BE49-F238E27FC236}">
                <a16:creationId xmlns:a16="http://schemas.microsoft.com/office/drawing/2014/main" id="{234B9CE0-9205-44CC-B43C-4B1D7F55439D}"/>
              </a:ext>
            </a:extLst>
          </p:cNvPr>
          <p:cNvSpPr>
            <a:spLocks xmlns:a="http://schemas.openxmlformats.org/drawingml/2006/main" noGrp="1"/>
          </p:cNvSpPr>
          <p:nvPr/>
        </p:nvSpPr>
        <p:spPr>
          <a:xfrm xmlns:a="http://schemas.openxmlformats.org/drawingml/2006/main">
            <a:off x="4476750" y="2914650"/>
            <a:ext cx="2857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F6B7A"/>
                </a:solidFill>
              </a:defRPr>
            </a:pPr>
            <a:r>
              <a:rPr sz="1350" b="0">
                <a:solidFill>
                  <a:srgbClr val="5F6B7A"/>
                </a:solidFill>
              </a:rPr>
              <a:t>Role expectations change faster than conventional advising artifacts.</a:t>
            </a:r>
          </a:p>
        </p:txBody>
      </p:sp>
      <p:sp>
        <p:nvSpPr>
          <p:cNvPr id="14" name="">
            <a:extLst xmlns:a="http://schemas.openxmlformats.org/drawingml/2006/main">
              <a:ext uri="{FF2B5EF4-FFF2-40B4-BE49-F238E27FC236}">
                <a16:creationId xmlns:a16="http://schemas.microsoft.com/office/drawing/2014/main" id="{2428ECB0-C36A-49FE-9311-45F260128585}"/>
              </a:ext>
            </a:extLst>
          </p:cNvPr>
          <p:cNvSpPr>
            <a:spLocks xmlns:a="http://schemas.openxmlformats.org/drawingml/2006/main" noGrp="1"/>
          </p:cNvSpPr>
          <p:nvPr/>
        </p:nvSpPr>
        <p:spPr>
          <a:xfrm xmlns:a="http://schemas.openxmlformats.org/drawingml/2006/main">
            <a:off x="7886700" y="1695450"/>
            <a:ext cx="3333750" cy="24574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D8E1EC"/>
            </a:solidFill>
            <a:prstDash val="solid"/>
          </a:ln>
        </p:spPr>
      </p:sp>
      <p:sp>
        <p:nvSpPr>
          <p:cNvPr id="15" name="">
            <a:extLst xmlns:a="http://schemas.openxmlformats.org/drawingml/2006/main">
              <a:ext uri="{FF2B5EF4-FFF2-40B4-BE49-F238E27FC236}">
                <a16:creationId xmlns:a16="http://schemas.microsoft.com/office/drawing/2014/main" id="{CB815F43-DBC8-4034-A5BA-1ACD18D91346}"/>
              </a:ext>
            </a:extLst>
          </p:cNvPr>
          <p:cNvSpPr>
            <a:spLocks xmlns:a="http://schemas.openxmlformats.org/drawingml/2006/main" noGrp="1"/>
          </p:cNvSpPr>
          <p:nvPr/>
        </p:nvSpPr>
        <p:spPr>
          <a:xfrm xmlns:a="http://schemas.openxmlformats.org/drawingml/2006/main">
            <a:off x="8115300" y="18859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769E0"/>
                </a:solidFill>
              </a:defRPr>
            </a:pPr>
            <a:r>
              <a:rPr sz="1050" b="1">
                <a:solidFill>
                  <a:srgbClr val="1769E0"/>
                </a:solidFill>
              </a:rPr>
              <a:t>03</a:t>
            </a:r>
          </a:p>
        </p:txBody>
      </p:sp>
      <p:sp>
        <p:nvSpPr>
          <p:cNvPr id="16" name="">
            <a:extLst xmlns:a="http://schemas.openxmlformats.org/drawingml/2006/main">
              <a:ext uri="{FF2B5EF4-FFF2-40B4-BE49-F238E27FC236}">
                <a16:creationId xmlns:a16="http://schemas.microsoft.com/office/drawing/2014/main" id="{7192F18B-F38E-4671-A901-BF48F9106F55}"/>
              </a:ext>
            </a:extLst>
          </p:cNvPr>
          <p:cNvSpPr>
            <a:spLocks xmlns:a="http://schemas.openxmlformats.org/drawingml/2006/main" noGrp="1"/>
          </p:cNvSpPr>
          <p:nvPr/>
        </p:nvSpPr>
        <p:spPr>
          <a:xfrm xmlns:a="http://schemas.openxmlformats.org/drawingml/2006/main">
            <a:off x="8115300" y="2343150"/>
            <a:ext cx="285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1F3A"/>
                </a:solidFill>
              </a:defRPr>
            </a:pPr>
            <a:r>
              <a:rPr sz="1800" b="1">
                <a:solidFill>
                  <a:srgbClr val="0B1F3A"/>
                </a:solidFill>
              </a:rPr>
              <a:t>Proof of readiness</a:t>
            </a:r>
          </a:p>
        </p:txBody>
      </p:sp>
      <p:sp>
        <p:nvSpPr>
          <p:cNvPr id="17" name="">
            <a:extLst xmlns:a="http://schemas.openxmlformats.org/drawingml/2006/main">
              <a:ext uri="{FF2B5EF4-FFF2-40B4-BE49-F238E27FC236}">
                <a16:creationId xmlns:a16="http://schemas.microsoft.com/office/drawing/2014/main" id="{5151EC20-065B-4E53-BF6B-DCD5AE1C31C1}"/>
              </a:ext>
            </a:extLst>
          </p:cNvPr>
          <p:cNvSpPr>
            <a:spLocks xmlns:a="http://schemas.openxmlformats.org/drawingml/2006/main" noGrp="1"/>
          </p:cNvSpPr>
          <p:nvPr/>
        </p:nvSpPr>
        <p:spPr>
          <a:xfrm xmlns:a="http://schemas.openxmlformats.org/drawingml/2006/main">
            <a:off x="8115300" y="2914650"/>
            <a:ext cx="2857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F6B7A"/>
                </a:solidFill>
              </a:defRPr>
            </a:pPr>
            <a:r>
              <a:rPr sz="1350" b="0">
                <a:solidFill>
                  <a:srgbClr val="5F6B7A"/>
                </a:solidFill>
              </a:rPr>
              <a:t>Learners need a defensible next action—not another opaque score.</a:t>
            </a:r>
          </a:p>
        </p:txBody>
      </p:sp>
      <p:sp>
        <p:nvSpPr>
          <p:cNvPr id="18" name="">
            <a:extLst xmlns:a="http://schemas.openxmlformats.org/drawingml/2006/main">
              <a:ext uri="{FF2B5EF4-FFF2-40B4-BE49-F238E27FC236}">
                <a16:creationId xmlns:a16="http://schemas.microsoft.com/office/drawing/2014/main" id="{ABC29FD2-867B-452F-97E6-399F9D512907}"/>
              </a:ext>
            </a:extLst>
          </p:cNvPr>
          <p:cNvSpPr>
            <a:spLocks xmlns:a="http://schemas.openxmlformats.org/drawingml/2006/main" noGrp="1"/>
          </p:cNvSpPr>
          <p:nvPr/>
        </p:nvSpPr>
        <p:spPr>
          <a:xfrm xmlns:a="http://schemas.openxmlformats.org/drawingml/2006/main">
            <a:off x="609600" y="4438650"/>
            <a:ext cx="10610850" cy="1371600"/>
          </a:xfrm>
          <a:prstGeom xmlns:a="http://schemas.openxmlformats.org/drawingml/2006/main" prst="roundRect">
            <a:avLst>
              <a:gd name="adj" fmla="val 8333"/>
            </a:avLst>
          </a:prstGeom>
          <a:solidFill xmlns:a="http://schemas.openxmlformats.org/drawingml/2006/main">
            <a:srgbClr val="0B1F3A"/>
          </a:solidFill>
          <a:ln xmlns:a="http://schemas.openxmlformats.org/drawingml/2006/main" w="9525">
            <a:solidFill>
              <a:srgbClr val="0B1F3A"/>
            </a:solidFill>
            <a:prstDash val="solid"/>
          </a:ln>
        </p:spPr>
      </p:sp>
      <p:sp>
        <p:nvSpPr>
          <p:cNvPr id="19" name="">
            <a:extLst xmlns:a="http://schemas.openxmlformats.org/drawingml/2006/main">
              <a:ext uri="{FF2B5EF4-FFF2-40B4-BE49-F238E27FC236}">
                <a16:creationId xmlns:a16="http://schemas.microsoft.com/office/drawing/2014/main" id="{E0D57EC2-0DA4-43FD-AFEA-2D9BD3FAA60C}"/>
              </a:ext>
            </a:extLst>
          </p:cNvPr>
          <p:cNvSpPr>
            <a:spLocks xmlns:a="http://schemas.openxmlformats.org/drawingml/2006/main" noGrp="1"/>
          </p:cNvSpPr>
          <p:nvPr/>
        </p:nvSpPr>
        <p:spPr>
          <a:xfrm xmlns:a="http://schemas.openxmlformats.org/drawingml/2006/main">
            <a:off x="914400" y="4724400"/>
            <a:ext cx="1000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FFFFFF"/>
                </a:solidFill>
              </a:defRPr>
            </a:pPr>
            <a:r>
              <a:rPr sz="1950" b="1">
                <a:solidFill>
                  <a:srgbClr val="FFFFFF"/>
                </a:solidFill>
              </a:rPr>
              <a:t>Fursah joins those streams into one traceable chain: evidence → inference → readiness → action.</a:t>
            </a:r>
          </a:p>
        </p:txBody>
      </p:sp>
    </p:spTree>
    <p:extLst>
      <p:ext uri="{BB962C8B-B14F-4D97-AF65-F5344CB8AC3E}">
        <p14:creationId xmlns:p14="http://schemas.microsoft.com/office/powerpoint/2010/main" val="58845899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B282BF0-138F-4804-8D49-8AC68BDAAACC}"/>
              </a:ext>
            </a:extLst>
          </p:cNvPr>
          <p:cNvSpPr>
            <a:spLocks xmlns:a="http://schemas.openxmlformats.org/drawingml/2006/main" noGrp="1"/>
          </p:cNvSpPr>
          <p:nvPr/>
        </p:nvSpPr>
        <p:spPr>
          <a:xfrm xmlns:a="http://schemas.openxmlformats.org/drawingml/2006/main">
            <a:off x="609600" y="38100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1769E0"/>
                </a:solidFill>
              </a:defRPr>
            </a:pPr>
            <a:r>
              <a:rPr sz="975" b="1">
                <a:solidFill>
                  <a:srgbClr val="1769E0"/>
                </a:solidFill>
              </a:rPr>
              <a:t>02 · SYSTEM DESIGN</a:t>
            </a:r>
          </a:p>
        </p:txBody>
      </p:sp>
      <p:sp>
        <p:nvSpPr>
          <p:cNvPr id="2" name="">
            <a:extLst xmlns:a="http://schemas.openxmlformats.org/drawingml/2006/main">
              <a:ext uri="{FF2B5EF4-FFF2-40B4-BE49-F238E27FC236}">
                <a16:creationId xmlns:a16="http://schemas.microsoft.com/office/drawing/2014/main" id="{E8BFC54A-4899-4EB6-B4A2-D6FA3AC83A48}"/>
              </a:ext>
            </a:extLst>
          </p:cNvPr>
          <p:cNvSpPr>
            <a:spLocks xmlns:a="http://schemas.openxmlformats.org/drawingml/2006/main" noGrp="1"/>
          </p:cNvSpPr>
          <p:nvPr/>
        </p:nvSpPr>
        <p:spPr>
          <a:xfrm xmlns:a="http://schemas.openxmlformats.org/drawingml/2006/main">
            <a:off x="609600" y="74295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B1F3A"/>
                </a:solidFill>
              </a:defRPr>
            </a:pPr>
            <a:r>
              <a:rPr sz="2700" b="1">
                <a:solidFill>
                  <a:srgbClr val="0B1F3A"/>
                </a:solidFill>
              </a:rPr>
              <a:t>AI explains the evidence; it does not invent it</a:t>
            </a:r>
          </a:p>
        </p:txBody>
      </p:sp>
      <p:sp>
        <p:nvSpPr>
          <p:cNvPr id="3" name="">
            <a:extLst xmlns:a="http://schemas.openxmlformats.org/drawingml/2006/main">
              <a:ext uri="{FF2B5EF4-FFF2-40B4-BE49-F238E27FC236}">
                <a16:creationId xmlns:a16="http://schemas.microsoft.com/office/drawing/2014/main" id="{D1B9D817-D21F-4F02-AA3D-7843DDA19BAF}"/>
              </a:ext>
            </a:extLst>
          </p:cNvPr>
          <p:cNvSpPr>
            <a:spLocks xmlns:a="http://schemas.openxmlformats.org/drawingml/2006/main" noGrp="1"/>
          </p:cNvSpPr>
          <p:nvPr/>
        </p:nvSpPr>
        <p:spPr>
          <a:xfrm xmlns:a="http://schemas.openxmlformats.org/drawingml/2006/main">
            <a:off x="11182350" y="40005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F6B7A"/>
                </a:solidFill>
              </a:defRPr>
            </a:pPr>
            <a:r>
              <a:rPr sz="900" b="1">
                <a:solidFill>
                  <a:srgbClr val="5F6B7A"/>
                </a:solidFill>
              </a:rPr>
              <a:t>03</a:t>
            </a:r>
          </a:p>
        </p:txBody>
      </p:sp>
      <p:sp>
        <p:nvSpPr>
          <p:cNvPr id="4" name="">
            <a:extLst xmlns:a="http://schemas.openxmlformats.org/drawingml/2006/main">
              <a:ext uri="{FF2B5EF4-FFF2-40B4-BE49-F238E27FC236}">
                <a16:creationId xmlns:a16="http://schemas.microsoft.com/office/drawing/2014/main" id="{7E0B4AB8-BCC1-44FF-82FD-72D043D4D12A}"/>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1EC"/>
            </a:solidFill>
            <a:prstDash val="solid"/>
          </a:ln>
        </p:spPr>
      </p:sp>
      <p:sp>
        <p:nvSpPr>
          <p:cNvPr id="5" name="">
            <a:extLst xmlns:a="http://schemas.openxmlformats.org/drawingml/2006/main">
              <a:ext uri="{FF2B5EF4-FFF2-40B4-BE49-F238E27FC236}">
                <a16:creationId xmlns:a16="http://schemas.microsoft.com/office/drawing/2014/main" id="{EF0E3313-3A97-41C2-8B5A-078AE22DA22C}"/>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6B7A"/>
                </a:solidFill>
              </a:defRPr>
            </a:pPr>
            <a:r>
              <a:rPr sz="750" b="1">
                <a:solidFill>
                  <a:srgbClr val="5F6B7A"/>
                </a:solidFill>
              </a:rPr>
              <a:t>FURSAH · AI-POWERED WORKFORCE READINESS</a:t>
            </a:r>
          </a:p>
        </p:txBody>
      </p:sp>
      <p:sp>
        <p:nvSpPr>
          <p:cNvPr id="6" name="">
            <a:extLst xmlns:a="http://schemas.openxmlformats.org/drawingml/2006/main">
              <a:ext uri="{FF2B5EF4-FFF2-40B4-BE49-F238E27FC236}">
                <a16:creationId xmlns:a16="http://schemas.microsoft.com/office/drawing/2014/main" id="{E16FBCB5-EFC4-43D4-8D66-CCD308FB24B2}"/>
              </a:ext>
            </a:extLst>
          </p:cNvPr>
          <p:cNvSpPr>
            <a:spLocks xmlns:a="http://schemas.openxmlformats.org/drawingml/2006/main" noGrp="1"/>
          </p:cNvSpPr>
          <p:nvPr/>
        </p:nvSpPr>
        <p:spPr>
          <a:xfrm xmlns:a="http://schemas.openxmlformats.org/drawingml/2006/main">
            <a:off x="609600" y="1809750"/>
            <a:ext cx="3333750" cy="2286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8E1EC"/>
            </a:solidFill>
            <a:prstDash val="solid"/>
          </a:ln>
        </p:spPr>
      </p:sp>
      <p:sp>
        <p:nvSpPr>
          <p:cNvPr id="7" name="">
            <a:extLst xmlns:a="http://schemas.openxmlformats.org/drawingml/2006/main">
              <a:ext uri="{FF2B5EF4-FFF2-40B4-BE49-F238E27FC236}">
                <a16:creationId xmlns:a16="http://schemas.microsoft.com/office/drawing/2014/main" id="{044916E8-17DC-4972-A4ED-F0E8E126E1CA}"/>
              </a:ext>
            </a:extLst>
          </p:cNvPr>
          <p:cNvSpPr>
            <a:spLocks xmlns:a="http://schemas.openxmlformats.org/drawingml/2006/main" noGrp="1"/>
          </p:cNvSpPr>
          <p:nvPr/>
        </p:nvSpPr>
        <p:spPr>
          <a:xfrm xmlns:a="http://schemas.openxmlformats.org/drawingml/2006/main">
            <a:off x="847725" y="21145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B1F3A"/>
                </a:solidFill>
              </a:defRPr>
            </a:pPr>
            <a:r>
              <a:rPr sz="1425" b="1">
                <a:solidFill>
                  <a:srgbClr val="0B1F3A"/>
                </a:solidFill>
              </a:rPr>
              <a:t>Verified inputs</a:t>
            </a:r>
          </a:p>
        </p:txBody>
      </p:sp>
      <p:sp>
        <p:nvSpPr>
          <p:cNvPr id="8" name="">
            <a:extLst xmlns:a="http://schemas.openxmlformats.org/drawingml/2006/main">
              <a:ext uri="{FF2B5EF4-FFF2-40B4-BE49-F238E27FC236}">
                <a16:creationId xmlns:a16="http://schemas.microsoft.com/office/drawing/2014/main" id="{A5A9ADCE-EDB0-4D30-AA58-689A475A389A}"/>
              </a:ext>
            </a:extLst>
          </p:cNvPr>
          <p:cNvSpPr>
            <a:spLocks xmlns:a="http://schemas.openxmlformats.org/drawingml/2006/main" noGrp="1"/>
          </p:cNvSpPr>
          <p:nvPr/>
        </p:nvSpPr>
        <p:spPr>
          <a:xfrm xmlns:a="http://schemas.openxmlformats.org/drawingml/2006/main">
            <a:off x="847725" y="2647950"/>
            <a:ext cx="2857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F6B7A"/>
                </a:solidFill>
              </a:defRPr>
            </a:pPr>
            <a:r>
              <a:rPr sz="1350" b="0">
                <a:solidFill>
                  <a:srgbClr val="5F6B7A"/>
                </a:solidFill>
              </a:rPr>
              <a:t>Profiles, assessments, projects, curriculum and role evidence.</a:t>
            </a:r>
          </a:p>
        </p:txBody>
      </p:sp>
      <p:sp>
        <p:nvSpPr>
          <p:cNvPr id="9" name="">
            <a:extLst xmlns:a="http://schemas.openxmlformats.org/drawingml/2006/main">
              <a:ext uri="{FF2B5EF4-FFF2-40B4-BE49-F238E27FC236}">
                <a16:creationId xmlns:a16="http://schemas.microsoft.com/office/drawing/2014/main" id="{AC6A91C0-7DB6-4341-A14B-24198B92CA7A}"/>
              </a:ext>
            </a:extLst>
          </p:cNvPr>
          <p:cNvSpPr>
            <a:spLocks xmlns:a="http://schemas.openxmlformats.org/drawingml/2006/main" noGrp="1"/>
          </p:cNvSpPr>
          <p:nvPr/>
        </p:nvSpPr>
        <p:spPr>
          <a:xfrm xmlns:a="http://schemas.openxmlformats.org/drawingml/2006/main">
            <a:off x="847725" y="36004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7875D"/>
                </a:solidFill>
              </a:defRPr>
            </a:pPr>
            <a:r>
              <a:rPr sz="825" b="1">
                <a:solidFill>
                  <a:srgbClr val="17875D"/>
                </a:solidFill>
              </a:rPr>
              <a:t>EVIDENCE LAYER</a:t>
            </a:r>
          </a:p>
        </p:txBody>
      </p:sp>
      <p:sp>
        <p:nvSpPr>
          <p:cNvPr id="10" name="">
            <a:extLst xmlns:a="http://schemas.openxmlformats.org/drawingml/2006/main">
              <a:ext uri="{FF2B5EF4-FFF2-40B4-BE49-F238E27FC236}">
                <a16:creationId xmlns:a16="http://schemas.microsoft.com/office/drawing/2014/main" id="{E36CE3A2-5E90-4A43-8761-E6EBA583C944}"/>
              </a:ext>
            </a:extLst>
          </p:cNvPr>
          <p:cNvSpPr>
            <a:spLocks xmlns:a="http://schemas.openxmlformats.org/drawingml/2006/main" noGrp="1"/>
          </p:cNvSpPr>
          <p:nvPr/>
        </p:nvSpPr>
        <p:spPr>
          <a:xfrm xmlns:a="http://schemas.openxmlformats.org/drawingml/2006/main">
            <a:off x="4248150" y="1809750"/>
            <a:ext cx="3333750" cy="2286000"/>
          </a:xfrm>
          <a:prstGeom xmlns:a="http://schemas.openxmlformats.org/drawingml/2006/main" prst="roundRect">
            <a:avLst>
              <a:gd name="adj" fmla="val 5000"/>
            </a:avLst>
          </a:prstGeom>
          <a:solidFill xmlns:a="http://schemas.openxmlformats.org/drawingml/2006/main">
            <a:srgbClr val="EAF2FF"/>
          </a:solidFill>
          <a:ln xmlns:a="http://schemas.openxmlformats.org/drawingml/2006/main" w="9525">
            <a:solidFill>
              <a:srgbClr val="D8E1EC"/>
            </a:solidFill>
            <a:prstDash val="solid"/>
          </a:ln>
        </p:spPr>
      </p:sp>
      <p:sp>
        <p:nvSpPr>
          <p:cNvPr id="11" name="">
            <a:extLst xmlns:a="http://schemas.openxmlformats.org/drawingml/2006/main">
              <a:ext uri="{FF2B5EF4-FFF2-40B4-BE49-F238E27FC236}">
                <a16:creationId xmlns:a16="http://schemas.microsoft.com/office/drawing/2014/main" id="{08068FD2-DE3D-46D5-ADC5-854085DF094E}"/>
              </a:ext>
            </a:extLst>
          </p:cNvPr>
          <p:cNvSpPr>
            <a:spLocks xmlns:a="http://schemas.openxmlformats.org/drawingml/2006/main" noGrp="1"/>
          </p:cNvSpPr>
          <p:nvPr/>
        </p:nvSpPr>
        <p:spPr>
          <a:xfrm xmlns:a="http://schemas.openxmlformats.org/drawingml/2006/main">
            <a:off x="4486275" y="21145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B1F3A"/>
                </a:solidFill>
              </a:defRPr>
            </a:pPr>
            <a:r>
              <a:rPr sz="1425" b="1">
                <a:solidFill>
                  <a:srgbClr val="0B1F3A"/>
                </a:solidFill>
              </a:rPr>
              <a:t>Deterministic core</a:t>
            </a:r>
          </a:p>
        </p:txBody>
      </p:sp>
      <p:sp>
        <p:nvSpPr>
          <p:cNvPr id="12" name="">
            <a:extLst xmlns:a="http://schemas.openxmlformats.org/drawingml/2006/main">
              <a:ext uri="{FF2B5EF4-FFF2-40B4-BE49-F238E27FC236}">
                <a16:creationId xmlns:a16="http://schemas.microsoft.com/office/drawing/2014/main" id="{03BBB594-AE5D-4BD4-A372-D08D787297D6}"/>
              </a:ext>
            </a:extLst>
          </p:cNvPr>
          <p:cNvSpPr>
            <a:spLocks xmlns:a="http://schemas.openxmlformats.org/drawingml/2006/main" noGrp="1"/>
          </p:cNvSpPr>
          <p:nvPr/>
        </p:nvSpPr>
        <p:spPr>
          <a:xfrm xmlns:a="http://schemas.openxmlformats.org/drawingml/2006/main">
            <a:off x="4486275" y="2647950"/>
            <a:ext cx="2857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F6B7A"/>
                </a:solidFill>
              </a:defRPr>
            </a:pPr>
            <a:r>
              <a:rPr sz="1350" b="0">
                <a:solidFill>
                  <a:srgbClr val="5F6B7A"/>
                </a:solidFill>
              </a:rPr>
              <a:t>Versioned scoring, prerequisite gates and confidence labels.</a:t>
            </a:r>
          </a:p>
        </p:txBody>
      </p:sp>
      <p:sp>
        <p:nvSpPr>
          <p:cNvPr id="13" name="">
            <a:extLst xmlns:a="http://schemas.openxmlformats.org/drawingml/2006/main">
              <a:ext uri="{FF2B5EF4-FFF2-40B4-BE49-F238E27FC236}">
                <a16:creationId xmlns:a16="http://schemas.microsoft.com/office/drawing/2014/main" id="{4F9F0CC2-358F-435D-A46C-550D0CFC9B9D}"/>
              </a:ext>
            </a:extLst>
          </p:cNvPr>
          <p:cNvSpPr>
            <a:spLocks xmlns:a="http://schemas.openxmlformats.org/drawingml/2006/main" noGrp="1"/>
          </p:cNvSpPr>
          <p:nvPr/>
        </p:nvSpPr>
        <p:spPr>
          <a:xfrm xmlns:a="http://schemas.openxmlformats.org/drawingml/2006/main">
            <a:off x="4486275" y="36004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769E0"/>
                </a:solidFill>
              </a:defRPr>
            </a:pPr>
            <a:r>
              <a:rPr sz="825" b="1">
                <a:solidFill>
                  <a:srgbClr val="1769E0"/>
                </a:solidFill>
              </a:rPr>
              <a:t>SYSTEM OF RECORD</a:t>
            </a:r>
          </a:p>
        </p:txBody>
      </p:sp>
      <p:sp>
        <p:nvSpPr>
          <p:cNvPr id="14" name="">
            <a:extLst xmlns:a="http://schemas.openxmlformats.org/drawingml/2006/main">
              <a:ext uri="{FF2B5EF4-FFF2-40B4-BE49-F238E27FC236}">
                <a16:creationId xmlns:a16="http://schemas.microsoft.com/office/drawing/2014/main" id="{14E1EE10-474B-4A6B-8642-8992A63D242A}"/>
              </a:ext>
            </a:extLst>
          </p:cNvPr>
          <p:cNvSpPr>
            <a:spLocks xmlns:a="http://schemas.openxmlformats.org/drawingml/2006/main" noGrp="1"/>
          </p:cNvSpPr>
          <p:nvPr/>
        </p:nvSpPr>
        <p:spPr>
          <a:xfrm xmlns:a="http://schemas.openxmlformats.org/drawingml/2006/main">
            <a:off x="7886700" y="1809750"/>
            <a:ext cx="3333750" cy="2286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8E1EC"/>
            </a:solidFill>
            <a:prstDash val="solid"/>
          </a:ln>
        </p:spPr>
      </p:sp>
      <p:sp>
        <p:nvSpPr>
          <p:cNvPr id="15" name="">
            <a:extLst xmlns:a="http://schemas.openxmlformats.org/drawingml/2006/main">
              <a:ext uri="{FF2B5EF4-FFF2-40B4-BE49-F238E27FC236}">
                <a16:creationId xmlns:a16="http://schemas.microsoft.com/office/drawing/2014/main" id="{CFE8F1CC-2FD7-4044-BF5B-B57E3C920E3F}"/>
              </a:ext>
            </a:extLst>
          </p:cNvPr>
          <p:cNvSpPr>
            <a:spLocks xmlns:a="http://schemas.openxmlformats.org/drawingml/2006/main" noGrp="1"/>
          </p:cNvSpPr>
          <p:nvPr/>
        </p:nvSpPr>
        <p:spPr>
          <a:xfrm xmlns:a="http://schemas.openxmlformats.org/drawingml/2006/main">
            <a:off x="8124825" y="21145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B1F3A"/>
                </a:solidFill>
              </a:defRPr>
            </a:pPr>
            <a:r>
              <a:rPr sz="1425" b="1">
                <a:solidFill>
                  <a:srgbClr val="0B1F3A"/>
                </a:solidFill>
              </a:rPr>
              <a:t>Grounded assistant</a:t>
            </a:r>
          </a:p>
        </p:txBody>
      </p:sp>
      <p:sp>
        <p:nvSpPr>
          <p:cNvPr id="16" name="">
            <a:extLst xmlns:a="http://schemas.openxmlformats.org/drawingml/2006/main">
              <a:ext uri="{FF2B5EF4-FFF2-40B4-BE49-F238E27FC236}">
                <a16:creationId xmlns:a16="http://schemas.microsoft.com/office/drawing/2014/main" id="{09F13465-DB53-4864-B900-D9D285F740EE}"/>
              </a:ext>
            </a:extLst>
          </p:cNvPr>
          <p:cNvSpPr>
            <a:spLocks xmlns:a="http://schemas.openxmlformats.org/drawingml/2006/main" noGrp="1"/>
          </p:cNvSpPr>
          <p:nvPr/>
        </p:nvSpPr>
        <p:spPr>
          <a:xfrm xmlns:a="http://schemas.openxmlformats.org/drawingml/2006/main">
            <a:off x="8124825" y="2647950"/>
            <a:ext cx="2857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F6B7A"/>
                </a:solidFill>
              </a:defRPr>
            </a:pPr>
            <a:r>
              <a:rPr sz="1350" b="0">
                <a:solidFill>
                  <a:srgbClr val="5F6B7A"/>
                </a:solidFill>
              </a:rPr>
              <a:t>Natural-language explanation constrained by stored evidence.</a:t>
            </a:r>
          </a:p>
        </p:txBody>
      </p:sp>
      <p:sp>
        <p:nvSpPr>
          <p:cNvPr id="17" name="">
            <a:extLst xmlns:a="http://schemas.openxmlformats.org/drawingml/2006/main">
              <a:ext uri="{FF2B5EF4-FFF2-40B4-BE49-F238E27FC236}">
                <a16:creationId xmlns:a16="http://schemas.microsoft.com/office/drawing/2014/main" id="{3AE983C5-D588-4168-BF72-CB13D34D17DE}"/>
              </a:ext>
            </a:extLst>
          </p:cNvPr>
          <p:cNvSpPr>
            <a:spLocks xmlns:a="http://schemas.openxmlformats.org/drawingml/2006/main" noGrp="1"/>
          </p:cNvSpPr>
          <p:nvPr/>
        </p:nvSpPr>
        <p:spPr>
          <a:xfrm xmlns:a="http://schemas.openxmlformats.org/drawingml/2006/main">
            <a:off x="8124825" y="36004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7875D"/>
                </a:solidFill>
              </a:defRPr>
            </a:pPr>
            <a:r>
              <a:rPr sz="825" b="1">
                <a:solidFill>
                  <a:srgbClr val="17875D"/>
                </a:solidFill>
              </a:rPr>
              <a:t>EVIDENCE LAYER</a:t>
            </a:r>
          </a:p>
        </p:txBody>
      </p:sp>
      <p:sp>
        <p:nvSpPr>
          <p:cNvPr id="18" name="">
            <a:extLst xmlns:a="http://schemas.openxmlformats.org/drawingml/2006/main">
              <a:ext uri="{FF2B5EF4-FFF2-40B4-BE49-F238E27FC236}">
                <a16:creationId xmlns:a16="http://schemas.microsoft.com/office/drawing/2014/main" id="{07D73528-EF29-40D0-B395-0D29AE5C9124}"/>
              </a:ext>
            </a:extLst>
          </p:cNvPr>
          <p:cNvSpPr>
            <a:spLocks xmlns:a="http://schemas.openxmlformats.org/drawingml/2006/main" noGrp="1"/>
          </p:cNvSpPr>
          <p:nvPr/>
        </p:nvSpPr>
        <p:spPr>
          <a:xfrm xmlns:a="http://schemas.openxmlformats.org/drawingml/2006/main">
            <a:off x="609600" y="4552950"/>
            <a:ext cx="514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0B1F3A"/>
                </a:solidFill>
              </a:defRPr>
            </a:pPr>
            <a:r>
              <a:rPr sz="2250" b="1">
                <a:solidFill>
                  <a:srgbClr val="0B1F3A"/>
                </a:solidFill>
              </a:rPr>
              <a:t>No source evidence → no claim</a:t>
            </a:r>
          </a:p>
        </p:txBody>
      </p:sp>
      <p:sp>
        <p:nvSpPr>
          <p:cNvPr id="19" name="">
            <a:extLst xmlns:a="http://schemas.openxmlformats.org/drawingml/2006/main">
              <a:ext uri="{FF2B5EF4-FFF2-40B4-BE49-F238E27FC236}">
                <a16:creationId xmlns:a16="http://schemas.microsoft.com/office/drawing/2014/main" id="{AFC669E3-E734-4EE0-A898-C2DA05BFE408}"/>
              </a:ext>
            </a:extLst>
          </p:cNvPr>
          <p:cNvSpPr>
            <a:spLocks xmlns:a="http://schemas.openxmlformats.org/drawingml/2006/main" noGrp="1"/>
          </p:cNvSpPr>
          <p:nvPr/>
        </p:nvSpPr>
        <p:spPr>
          <a:xfrm xmlns:a="http://schemas.openxmlformats.org/drawingml/2006/main">
            <a:off x="609600" y="51054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5F6B7A"/>
                </a:solidFill>
              </a:defRPr>
            </a:pPr>
            <a:r>
              <a:rPr sz="1500" b="0">
                <a:solidFill>
                  <a:srgbClr val="5F6B7A"/>
                </a:solidFill>
              </a:rPr>
              <a:t>The interface exposes source freshness, limitations and confidence instead of hiding uncertainty.</a:t>
            </a:r>
          </a:p>
        </p:txBody>
      </p:sp>
    </p:spTree>
    <p:extLst>
      <p:ext uri="{BB962C8B-B14F-4D97-AF65-F5344CB8AC3E}">
        <p14:creationId xmlns:p14="http://schemas.microsoft.com/office/powerpoint/2010/main" val="206036203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81FA0494-759C-424D-A72C-8C9BAE3F0140}"/>
              </a:ext>
            </a:extLst>
          </p:cNvPr>
          <p:cNvSpPr>
            <a:spLocks xmlns:a="http://schemas.openxmlformats.org/drawingml/2006/main" noGrp="1"/>
          </p:cNvSpPr>
          <p:nvPr/>
        </p:nvSpPr>
        <p:spPr>
          <a:xfrm xmlns:a="http://schemas.openxmlformats.org/drawingml/2006/main">
            <a:off x="609600" y="38100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1769E0"/>
                </a:solidFill>
              </a:defRPr>
            </a:pPr>
            <a:r>
              <a:rPr sz="975" b="1">
                <a:solidFill>
                  <a:srgbClr val="1769E0"/>
                </a:solidFill>
              </a:rPr>
              <a:t>03 · Y.3172 MAPPING</a:t>
            </a:r>
          </a:p>
        </p:txBody>
      </p:sp>
      <p:sp>
        <p:nvSpPr>
          <p:cNvPr id="2" name="">
            <a:extLst xmlns:a="http://schemas.openxmlformats.org/drawingml/2006/main">
              <a:ext uri="{FF2B5EF4-FFF2-40B4-BE49-F238E27FC236}">
                <a16:creationId xmlns:a16="http://schemas.microsoft.com/office/drawing/2014/main" id="{DA4A763B-163F-405D-86ED-4DA8650A79DC}"/>
              </a:ext>
            </a:extLst>
          </p:cNvPr>
          <p:cNvSpPr>
            <a:spLocks xmlns:a="http://schemas.openxmlformats.org/drawingml/2006/main" noGrp="1"/>
          </p:cNvSpPr>
          <p:nvPr/>
        </p:nvSpPr>
        <p:spPr>
          <a:xfrm xmlns:a="http://schemas.openxmlformats.org/drawingml/2006/main">
            <a:off x="609600" y="74295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B1F3A"/>
                </a:solidFill>
              </a:defRPr>
            </a:pPr>
            <a:r>
              <a:rPr sz="2700" b="1">
                <a:solidFill>
                  <a:srgbClr val="0B1F3A"/>
                </a:solidFill>
              </a:rPr>
              <a:t>Every ML pipeline node is visible and testable</a:t>
            </a:r>
          </a:p>
        </p:txBody>
      </p:sp>
      <p:sp>
        <p:nvSpPr>
          <p:cNvPr id="3" name="">
            <a:extLst xmlns:a="http://schemas.openxmlformats.org/drawingml/2006/main">
              <a:ext uri="{FF2B5EF4-FFF2-40B4-BE49-F238E27FC236}">
                <a16:creationId xmlns:a16="http://schemas.microsoft.com/office/drawing/2014/main" id="{016F58D5-1760-4CBE-AD9F-CA4393E965C3}"/>
              </a:ext>
            </a:extLst>
          </p:cNvPr>
          <p:cNvSpPr>
            <a:spLocks xmlns:a="http://schemas.openxmlformats.org/drawingml/2006/main" noGrp="1"/>
          </p:cNvSpPr>
          <p:nvPr/>
        </p:nvSpPr>
        <p:spPr>
          <a:xfrm xmlns:a="http://schemas.openxmlformats.org/drawingml/2006/main">
            <a:off x="11182350" y="40005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F6B7A"/>
                </a:solidFill>
              </a:defRPr>
            </a:pPr>
            <a:r>
              <a:rPr sz="900" b="1">
                <a:solidFill>
                  <a:srgbClr val="5F6B7A"/>
                </a:solidFill>
              </a:rPr>
              <a:t>04</a:t>
            </a:r>
          </a:p>
        </p:txBody>
      </p:sp>
      <p:sp>
        <p:nvSpPr>
          <p:cNvPr id="4" name="">
            <a:extLst xmlns:a="http://schemas.openxmlformats.org/drawingml/2006/main">
              <a:ext uri="{FF2B5EF4-FFF2-40B4-BE49-F238E27FC236}">
                <a16:creationId xmlns:a16="http://schemas.microsoft.com/office/drawing/2014/main" id="{28DB8B14-20D1-4564-9796-EC42C4F1A56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1EC"/>
            </a:solidFill>
            <a:prstDash val="solid"/>
          </a:ln>
        </p:spPr>
      </p:sp>
      <p:sp>
        <p:nvSpPr>
          <p:cNvPr id="5" name="">
            <a:extLst xmlns:a="http://schemas.openxmlformats.org/drawingml/2006/main">
              <a:ext uri="{FF2B5EF4-FFF2-40B4-BE49-F238E27FC236}">
                <a16:creationId xmlns:a16="http://schemas.microsoft.com/office/drawing/2014/main" id="{685D86B2-6EDD-42B4-9E4E-3D1EE227D251}"/>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6B7A"/>
                </a:solidFill>
              </a:defRPr>
            </a:pPr>
            <a:r>
              <a:rPr sz="750" b="1">
                <a:solidFill>
                  <a:srgbClr val="5F6B7A"/>
                </a:solidFill>
              </a:rPr>
              <a:t>FURSAH · AI-POWERED WORKFORCE READINESS</a:t>
            </a:r>
          </a:p>
        </p:txBody>
      </p:sp>
      <p:sp>
        <p:nvSpPr>
          <p:cNvPr id="6" name="">
            <a:extLst xmlns:a="http://schemas.openxmlformats.org/drawingml/2006/main">
              <a:ext uri="{FF2B5EF4-FFF2-40B4-BE49-F238E27FC236}">
                <a16:creationId xmlns:a16="http://schemas.microsoft.com/office/drawing/2014/main" id="{7AC4F8FE-9098-4AD5-8FCF-EAE3C09DA5BE}"/>
              </a:ext>
            </a:extLst>
          </p:cNvPr>
          <p:cNvSpPr>
            <a:spLocks xmlns:a="http://schemas.openxmlformats.org/drawingml/2006/main" noGrp="1"/>
          </p:cNvSpPr>
          <p:nvPr/>
        </p:nvSpPr>
        <p:spPr>
          <a:xfrm xmlns:a="http://schemas.openxmlformats.org/drawingml/2006/main">
            <a:off x="609600" y="1943100"/>
            <a:ext cx="1257300" cy="876300"/>
          </a:xfrm>
          <a:prstGeom xmlns:a="http://schemas.openxmlformats.org/drawingml/2006/main" prst="roundRect">
            <a:avLst>
              <a:gd name="adj" fmla="val 8696"/>
            </a:avLst>
          </a:prstGeom>
          <a:solidFill xmlns:a="http://schemas.openxmlformats.org/drawingml/2006/main">
            <a:srgbClr val="EAF2FF"/>
          </a:solidFill>
          <a:ln xmlns:a="http://schemas.openxmlformats.org/drawingml/2006/main" w="9525">
            <a:solidFill>
              <a:srgbClr val="D8E1EC"/>
            </a:solidFill>
            <a:prstDash val="solid"/>
          </a:ln>
        </p:spPr>
      </p:sp>
      <p:sp>
        <p:nvSpPr>
          <p:cNvPr id="7" name="">
            <a:extLst xmlns:a="http://schemas.openxmlformats.org/drawingml/2006/main">
              <a:ext uri="{FF2B5EF4-FFF2-40B4-BE49-F238E27FC236}">
                <a16:creationId xmlns:a16="http://schemas.microsoft.com/office/drawing/2014/main" id="{654D6AFD-6E7D-4151-B20A-B677F361DA20}"/>
              </a:ext>
            </a:extLst>
          </p:cNvPr>
          <p:cNvSpPr>
            <a:spLocks xmlns:a="http://schemas.openxmlformats.org/drawingml/2006/main" noGrp="1"/>
          </p:cNvSpPr>
          <p:nvPr/>
        </p:nvSpPr>
        <p:spPr>
          <a:xfrm xmlns:a="http://schemas.openxmlformats.org/drawingml/2006/main">
            <a:off x="704850" y="2038350"/>
            <a:ext cx="238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769E0"/>
                </a:solidFill>
              </a:defRPr>
            </a:pPr>
            <a:r>
              <a:rPr sz="825" b="1">
                <a:solidFill>
                  <a:srgbClr val="1769E0"/>
                </a:solidFill>
              </a:rPr>
              <a:t>1</a:t>
            </a:r>
          </a:p>
        </p:txBody>
      </p:sp>
      <p:sp>
        <p:nvSpPr>
          <p:cNvPr id="8" name="">
            <a:extLst xmlns:a="http://schemas.openxmlformats.org/drawingml/2006/main">
              <a:ext uri="{FF2B5EF4-FFF2-40B4-BE49-F238E27FC236}">
                <a16:creationId xmlns:a16="http://schemas.microsoft.com/office/drawing/2014/main" id="{16A50584-2314-4C1E-970F-50461BA6A6F1}"/>
              </a:ext>
            </a:extLst>
          </p:cNvPr>
          <p:cNvSpPr>
            <a:spLocks xmlns:a="http://schemas.openxmlformats.org/drawingml/2006/main" noGrp="1"/>
          </p:cNvSpPr>
          <p:nvPr/>
        </p:nvSpPr>
        <p:spPr>
          <a:xfrm xmlns:a="http://schemas.openxmlformats.org/drawingml/2006/main">
            <a:off x="704850" y="2305050"/>
            <a:ext cx="106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B1F3A"/>
                </a:solidFill>
              </a:defRPr>
            </a:pPr>
            <a:r>
              <a:rPr sz="1275" b="1">
                <a:solidFill>
                  <a:srgbClr val="0B1F3A"/>
                </a:solidFill>
              </a:rPr>
              <a:t>Sources</a:t>
            </a:r>
          </a:p>
        </p:txBody>
      </p:sp>
      <p:sp>
        <p:nvSpPr>
          <p:cNvPr id="9" name="">
            <a:extLst xmlns:a="http://schemas.openxmlformats.org/drawingml/2006/main">
              <a:ext uri="{FF2B5EF4-FFF2-40B4-BE49-F238E27FC236}">
                <a16:creationId xmlns:a16="http://schemas.microsoft.com/office/drawing/2014/main" id="{D3322C41-6AB8-443D-A733-0A852E3687D4}"/>
              </a:ext>
            </a:extLst>
          </p:cNvPr>
          <p:cNvSpPr>
            <a:spLocks xmlns:a="http://schemas.openxmlformats.org/drawingml/2006/main" noGrp="1"/>
          </p:cNvSpPr>
          <p:nvPr/>
        </p:nvSpPr>
        <p:spPr>
          <a:xfrm xmlns:a="http://schemas.openxmlformats.org/drawingml/2006/main">
            <a:off x="1866900" y="2190750"/>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1769E0"/>
                </a:solidFill>
              </a:defRPr>
            </a:pPr>
            <a:r>
              <a:rPr sz="1725" b="1">
                <a:solidFill>
                  <a:srgbClr val="1769E0"/>
                </a:solidFill>
              </a:rPr>
              <a:t>→</a:t>
            </a:r>
          </a:p>
        </p:txBody>
      </p:sp>
      <p:sp>
        <p:nvSpPr>
          <p:cNvPr id="10" name="">
            <a:extLst xmlns:a="http://schemas.openxmlformats.org/drawingml/2006/main">
              <a:ext uri="{FF2B5EF4-FFF2-40B4-BE49-F238E27FC236}">
                <a16:creationId xmlns:a16="http://schemas.microsoft.com/office/drawing/2014/main" id="{D3C96557-6477-4BC3-B2C9-F16FEF70743C}"/>
              </a:ext>
            </a:extLst>
          </p:cNvPr>
          <p:cNvSpPr>
            <a:spLocks xmlns:a="http://schemas.openxmlformats.org/drawingml/2006/main" noGrp="1"/>
          </p:cNvSpPr>
          <p:nvPr/>
        </p:nvSpPr>
        <p:spPr>
          <a:xfrm xmlns:a="http://schemas.openxmlformats.org/drawingml/2006/main">
            <a:off x="2133600" y="1943100"/>
            <a:ext cx="1257300" cy="876300"/>
          </a:xfrm>
          <a:prstGeom xmlns:a="http://schemas.openxmlformats.org/drawingml/2006/main" prst="roundRect">
            <a:avLst>
              <a:gd name="adj" fmla="val 8696"/>
            </a:avLst>
          </a:prstGeom>
          <a:solidFill xmlns:a="http://schemas.openxmlformats.org/drawingml/2006/main">
            <a:srgbClr val="EAF2FF"/>
          </a:solidFill>
          <a:ln xmlns:a="http://schemas.openxmlformats.org/drawingml/2006/main" w="9525">
            <a:solidFill>
              <a:srgbClr val="D8E1EC"/>
            </a:solidFill>
            <a:prstDash val="solid"/>
          </a:ln>
        </p:spPr>
      </p:sp>
      <p:sp>
        <p:nvSpPr>
          <p:cNvPr id="11" name="">
            <a:extLst xmlns:a="http://schemas.openxmlformats.org/drawingml/2006/main">
              <a:ext uri="{FF2B5EF4-FFF2-40B4-BE49-F238E27FC236}">
                <a16:creationId xmlns:a16="http://schemas.microsoft.com/office/drawing/2014/main" id="{B0837433-DF9E-4C23-B259-82BB8257D0B6}"/>
              </a:ext>
            </a:extLst>
          </p:cNvPr>
          <p:cNvSpPr>
            <a:spLocks xmlns:a="http://schemas.openxmlformats.org/drawingml/2006/main" noGrp="1"/>
          </p:cNvSpPr>
          <p:nvPr/>
        </p:nvSpPr>
        <p:spPr>
          <a:xfrm xmlns:a="http://schemas.openxmlformats.org/drawingml/2006/main">
            <a:off x="2228850" y="2038350"/>
            <a:ext cx="238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769E0"/>
                </a:solidFill>
              </a:defRPr>
            </a:pPr>
            <a:r>
              <a:rPr sz="825" b="1">
                <a:solidFill>
                  <a:srgbClr val="1769E0"/>
                </a:solidFill>
              </a:rPr>
              <a:t>2</a:t>
            </a:r>
          </a:p>
        </p:txBody>
      </p:sp>
      <p:sp>
        <p:nvSpPr>
          <p:cNvPr id="12" name="">
            <a:extLst xmlns:a="http://schemas.openxmlformats.org/drawingml/2006/main">
              <a:ext uri="{FF2B5EF4-FFF2-40B4-BE49-F238E27FC236}">
                <a16:creationId xmlns:a16="http://schemas.microsoft.com/office/drawing/2014/main" id="{F0CD4961-E553-463F-AF49-F68C67766772}"/>
              </a:ext>
            </a:extLst>
          </p:cNvPr>
          <p:cNvSpPr>
            <a:spLocks xmlns:a="http://schemas.openxmlformats.org/drawingml/2006/main" noGrp="1"/>
          </p:cNvSpPr>
          <p:nvPr/>
        </p:nvSpPr>
        <p:spPr>
          <a:xfrm xmlns:a="http://schemas.openxmlformats.org/drawingml/2006/main">
            <a:off x="2228850" y="2305050"/>
            <a:ext cx="106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B1F3A"/>
                </a:solidFill>
              </a:defRPr>
            </a:pPr>
            <a:r>
              <a:rPr sz="1275" b="1">
                <a:solidFill>
                  <a:srgbClr val="0B1F3A"/>
                </a:solidFill>
              </a:rPr>
              <a:t>Collect</a:t>
            </a:r>
          </a:p>
        </p:txBody>
      </p:sp>
      <p:sp>
        <p:nvSpPr>
          <p:cNvPr id="13" name="">
            <a:extLst xmlns:a="http://schemas.openxmlformats.org/drawingml/2006/main">
              <a:ext uri="{FF2B5EF4-FFF2-40B4-BE49-F238E27FC236}">
                <a16:creationId xmlns:a16="http://schemas.microsoft.com/office/drawing/2014/main" id="{36E0C90E-DB12-4F23-8B64-2A4ACA7D626B}"/>
              </a:ext>
            </a:extLst>
          </p:cNvPr>
          <p:cNvSpPr>
            <a:spLocks xmlns:a="http://schemas.openxmlformats.org/drawingml/2006/main" noGrp="1"/>
          </p:cNvSpPr>
          <p:nvPr/>
        </p:nvSpPr>
        <p:spPr>
          <a:xfrm xmlns:a="http://schemas.openxmlformats.org/drawingml/2006/main">
            <a:off x="3390900" y="2190750"/>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1769E0"/>
                </a:solidFill>
              </a:defRPr>
            </a:pPr>
            <a:r>
              <a:rPr sz="1725" b="1">
                <a:solidFill>
                  <a:srgbClr val="1769E0"/>
                </a:solidFill>
              </a:rPr>
              <a:t>→</a:t>
            </a:r>
          </a:p>
        </p:txBody>
      </p:sp>
      <p:sp>
        <p:nvSpPr>
          <p:cNvPr id="14" name="">
            <a:extLst xmlns:a="http://schemas.openxmlformats.org/drawingml/2006/main">
              <a:ext uri="{FF2B5EF4-FFF2-40B4-BE49-F238E27FC236}">
                <a16:creationId xmlns:a16="http://schemas.microsoft.com/office/drawing/2014/main" id="{010E718F-D285-430A-80CE-7919201F1702}"/>
              </a:ext>
            </a:extLst>
          </p:cNvPr>
          <p:cNvSpPr>
            <a:spLocks xmlns:a="http://schemas.openxmlformats.org/drawingml/2006/main" noGrp="1"/>
          </p:cNvSpPr>
          <p:nvPr/>
        </p:nvSpPr>
        <p:spPr>
          <a:xfrm xmlns:a="http://schemas.openxmlformats.org/drawingml/2006/main">
            <a:off x="3657600" y="1943100"/>
            <a:ext cx="1257300" cy="876300"/>
          </a:xfrm>
          <a:prstGeom xmlns:a="http://schemas.openxmlformats.org/drawingml/2006/main" prst="roundRect">
            <a:avLst>
              <a:gd name="adj" fmla="val 8696"/>
            </a:avLst>
          </a:prstGeom>
          <a:solidFill xmlns:a="http://schemas.openxmlformats.org/drawingml/2006/main">
            <a:srgbClr val="EAF2FF"/>
          </a:solidFill>
          <a:ln xmlns:a="http://schemas.openxmlformats.org/drawingml/2006/main" w="9525">
            <a:solidFill>
              <a:srgbClr val="D8E1EC"/>
            </a:solidFill>
            <a:prstDash val="solid"/>
          </a:ln>
        </p:spPr>
      </p:sp>
      <p:sp>
        <p:nvSpPr>
          <p:cNvPr id="15" name="">
            <a:extLst xmlns:a="http://schemas.openxmlformats.org/drawingml/2006/main">
              <a:ext uri="{FF2B5EF4-FFF2-40B4-BE49-F238E27FC236}">
                <a16:creationId xmlns:a16="http://schemas.microsoft.com/office/drawing/2014/main" id="{B1E1CC4B-467F-44B3-AD6B-BC505286267D}"/>
              </a:ext>
            </a:extLst>
          </p:cNvPr>
          <p:cNvSpPr>
            <a:spLocks xmlns:a="http://schemas.openxmlformats.org/drawingml/2006/main" noGrp="1"/>
          </p:cNvSpPr>
          <p:nvPr/>
        </p:nvSpPr>
        <p:spPr>
          <a:xfrm xmlns:a="http://schemas.openxmlformats.org/drawingml/2006/main">
            <a:off x="3752850" y="2038350"/>
            <a:ext cx="238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769E0"/>
                </a:solidFill>
              </a:defRPr>
            </a:pPr>
            <a:r>
              <a:rPr sz="825" b="1">
                <a:solidFill>
                  <a:srgbClr val="1769E0"/>
                </a:solidFill>
              </a:rPr>
              <a:t>3</a:t>
            </a:r>
          </a:p>
        </p:txBody>
      </p:sp>
      <p:sp>
        <p:nvSpPr>
          <p:cNvPr id="16" name="">
            <a:extLst xmlns:a="http://schemas.openxmlformats.org/drawingml/2006/main">
              <a:ext uri="{FF2B5EF4-FFF2-40B4-BE49-F238E27FC236}">
                <a16:creationId xmlns:a16="http://schemas.microsoft.com/office/drawing/2014/main" id="{584C5E18-3B2F-4FDF-AC24-847ED8B87D58}"/>
              </a:ext>
            </a:extLst>
          </p:cNvPr>
          <p:cNvSpPr>
            <a:spLocks xmlns:a="http://schemas.openxmlformats.org/drawingml/2006/main" noGrp="1"/>
          </p:cNvSpPr>
          <p:nvPr/>
        </p:nvSpPr>
        <p:spPr>
          <a:xfrm xmlns:a="http://schemas.openxmlformats.org/drawingml/2006/main">
            <a:off x="3752850" y="2305050"/>
            <a:ext cx="106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B1F3A"/>
                </a:solidFill>
              </a:defRPr>
            </a:pPr>
            <a:r>
              <a:rPr sz="1275" b="1">
                <a:solidFill>
                  <a:srgbClr val="0B1F3A"/>
                </a:solidFill>
              </a:rPr>
              <a:t>Preprocess</a:t>
            </a:r>
          </a:p>
        </p:txBody>
      </p:sp>
      <p:sp>
        <p:nvSpPr>
          <p:cNvPr id="17" name="">
            <a:extLst xmlns:a="http://schemas.openxmlformats.org/drawingml/2006/main">
              <a:ext uri="{FF2B5EF4-FFF2-40B4-BE49-F238E27FC236}">
                <a16:creationId xmlns:a16="http://schemas.microsoft.com/office/drawing/2014/main" id="{7F07DC3A-D3EC-4DA1-8590-1B065600EA86}"/>
              </a:ext>
            </a:extLst>
          </p:cNvPr>
          <p:cNvSpPr>
            <a:spLocks xmlns:a="http://schemas.openxmlformats.org/drawingml/2006/main" noGrp="1"/>
          </p:cNvSpPr>
          <p:nvPr/>
        </p:nvSpPr>
        <p:spPr>
          <a:xfrm xmlns:a="http://schemas.openxmlformats.org/drawingml/2006/main">
            <a:off x="4914900" y="2190750"/>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1769E0"/>
                </a:solidFill>
              </a:defRPr>
            </a:pPr>
            <a:r>
              <a:rPr sz="1725" b="1">
                <a:solidFill>
                  <a:srgbClr val="1769E0"/>
                </a:solidFill>
              </a:rPr>
              <a:t>→</a:t>
            </a:r>
          </a:p>
        </p:txBody>
      </p:sp>
      <p:sp>
        <p:nvSpPr>
          <p:cNvPr id="18" name="">
            <a:extLst xmlns:a="http://schemas.openxmlformats.org/drawingml/2006/main">
              <a:ext uri="{FF2B5EF4-FFF2-40B4-BE49-F238E27FC236}">
                <a16:creationId xmlns:a16="http://schemas.microsoft.com/office/drawing/2014/main" id="{2D3202A5-B867-457E-A129-37F9062F77CA}"/>
              </a:ext>
            </a:extLst>
          </p:cNvPr>
          <p:cNvSpPr>
            <a:spLocks xmlns:a="http://schemas.openxmlformats.org/drawingml/2006/main" noGrp="1"/>
          </p:cNvSpPr>
          <p:nvPr/>
        </p:nvSpPr>
        <p:spPr>
          <a:xfrm xmlns:a="http://schemas.openxmlformats.org/drawingml/2006/main">
            <a:off x="5181600" y="1943100"/>
            <a:ext cx="1257300" cy="876300"/>
          </a:xfrm>
          <a:prstGeom xmlns:a="http://schemas.openxmlformats.org/drawingml/2006/main" prst="roundRect">
            <a:avLst>
              <a:gd name="adj" fmla="val 8696"/>
            </a:avLst>
          </a:prstGeom>
          <a:solidFill xmlns:a="http://schemas.openxmlformats.org/drawingml/2006/main">
            <a:srgbClr val="1769E0"/>
          </a:solidFill>
          <a:ln xmlns:a="http://schemas.openxmlformats.org/drawingml/2006/main" w="9525">
            <a:solidFill>
              <a:srgbClr val="1769E0"/>
            </a:solidFill>
            <a:prstDash val="solid"/>
          </a:ln>
        </p:spPr>
      </p:sp>
      <p:sp>
        <p:nvSpPr>
          <p:cNvPr id="19" name="">
            <a:extLst xmlns:a="http://schemas.openxmlformats.org/drawingml/2006/main">
              <a:ext uri="{FF2B5EF4-FFF2-40B4-BE49-F238E27FC236}">
                <a16:creationId xmlns:a16="http://schemas.microsoft.com/office/drawing/2014/main" id="{7C395322-50FE-46EC-B0E5-1B884C44010E}"/>
              </a:ext>
            </a:extLst>
          </p:cNvPr>
          <p:cNvSpPr>
            <a:spLocks xmlns:a="http://schemas.openxmlformats.org/drawingml/2006/main" noGrp="1"/>
          </p:cNvSpPr>
          <p:nvPr/>
        </p:nvSpPr>
        <p:spPr>
          <a:xfrm xmlns:a="http://schemas.openxmlformats.org/drawingml/2006/main">
            <a:off x="5276850" y="2038350"/>
            <a:ext cx="238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FFFFFF"/>
                </a:solidFill>
              </a:defRPr>
            </a:pPr>
            <a:r>
              <a:rPr sz="825" b="1">
                <a:solidFill>
                  <a:srgbClr val="FFFFFF"/>
                </a:solidFill>
              </a:rPr>
              <a:t>4</a:t>
            </a:r>
          </a:p>
        </p:txBody>
      </p:sp>
      <p:sp>
        <p:nvSpPr>
          <p:cNvPr id="20" name="">
            <a:extLst xmlns:a="http://schemas.openxmlformats.org/drawingml/2006/main">
              <a:ext uri="{FF2B5EF4-FFF2-40B4-BE49-F238E27FC236}">
                <a16:creationId xmlns:a16="http://schemas.microsoft.com/office/drawing/2014/main" id="{E224CF82-BC43-491D-BE44-6FCDEA339EFA}"/>
              </a:ext>
            </a:extLst>
          </p:cNvPr>
          <p:cNvSpPr>
            <a:spLocks xmlns:a="http://schemas.openxmlformats.org/drawingml/2006/main" noGrp="1"/>
          </p:cNvSpPr>
          <p:nvPr/>
        </p:nvSpPr>
        <p:spPr>
          <a:xfrm xmlns:a="http://schemas.openxmlformats.org/drawingml/2006/main">
            <a:off x="5276850" y="2305050"/>
            <a:ext cx="106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Model</a:t>
            </a:r>
          </a:p>
        </p:txBody>
      </p:sp>
      <p:sp>
        <p:nvSpPr>
          <p:cNvPr id="21" name="">
            <a:extLst xmlns:a="http://schemas.openxmlformats.org/drawingml/2006/main">
              <a:ext uri="{FF2B5EF4-FFF2-40B4-BE49-F238E27FC236}">
                <a16:creationId xmlns:a16="http://schemas.microsoft.com/office/drawing/2014/main" id="{89018642-7874-40F7-8B5A-1B56755596BD}"/>
              </a:ext>
            </a:extLst>
          </p:cNvPr>
          <p:cNvSpPr>
            <a:spLocks xmlns:a="http://schemas.openxmlformats.org/drawingml/2006/main" noGrp="1"/>
          </p:cNvSpPr>
          <p:nvPr/>
        </p:nvSpPr>
        <p:spPr>
          <a:xfrm xmlns:a="http://schemas.openxmlformats.org/drawingml/2006/main">
            <a:off x="6438900" y="2190750"/>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1769E0"/>
                </a:solidFill>
              </a:defRPr>
            </a:pPr>
            <a:r>
              <a:rPr sz="1725" b="1">
                <a:solidFill>
                  <a:srgbClr val="1769E0"/>
                </a:solidFill>
              </a:rPr>
              <a:t>→</a:t>
            </a:r>
          </a:p>
        </p:txBody>
      </p:sp>
      <p:sp>
        <p:nvSpPr>
          <p:cNvPr id="22" name="">
            <a:extLst xmlns:a="http://schemas.openxmlformats.org/drawingml/2006/main">
              <a:ext uri="{FF2B5EF4-FFF2-40B4-BE49-F238E27FC236}">
                <a16:creationId xmlns:a16="http://schemas.microsoft.com/office/drawing/2014/main" id="{1C53EEE6-3B5E-43FA-B403-4AB396956342}"/>
              </a:ext>
            </a:extLst>
          </p:cNvPr>
          <p:cNvSpPr>
            <a:spLocks xmlns:a="http://schemas.openxmlformats.org/drawingml/2006/main" noGrp="1"/>
          </p:cNvSpPr>
          <p:nvPr/>
        </p:nvSpPr>
        <p:spPr>
          <a:xfrm xmlns:a="http://schemas.openxmlformats.org/drawingml/2006/main">
            <a:off x="6705600" y="1943100"/>
            <a:ext cx="1257300" cy="876300"/>
          </a:xfrm>
          <a:prstGeom xmlns:a="http://schemas.openxmlformats.org/drawingml/2006/main" prst="roundRect">
            <a:avLst>
              <a:gd name="adj" fmla="val 8696"/>
            </a:avLst>
          </a:prstGeom>
          <a:solidFill xmlns:a="http://schemas.openxmlformats.org/drawingml/2006/main">
            <a:srgbClr val="EAF2FF"/>
          </a:solidFill>
          <a:ln xmlns:a="http://schemas.openxmlformats.org/drawingml/2006/main" w="9525">
            <a:solidFill>
              <a:srgbClr val="D8E1EC"/>
            </a:solidFill>
            <a:prstDash val="solid"/>
          </a:ln>
        </p:spPr>
      </p:sp>
      <p:sp>
        <p:nvSpPr>
          <p:cNvPr id="23" name="">
            <a:extLst xmlns:a="http://schemas.openxmlformats.org/drawingml/2006/main">
              <a:ext uri="{FF2B5EF4-FFF2-40B4-BE49-F238E27FC236}">
                <a16:creationId xmlns:a16="http://schemas.microsoft.com/office/drawing/2014/main" id="{08B3D49A-9996-46B1-B9D7-E06D41A58242}"/>
              </a:ext>
            </a:extLst>
          </p:cNvPr>
          <p:cNvSpPr>
            <a:spLocks xmlns:a="http://schemas.openxmlformats.org/drawingml/2006/main" noGrp="1"/>
          </p:cNvSpPr>
          <p:nvPr/>
        </p:nvSpPr>
        <p:spPr>
          <a:xfrm xmlns:a="http://schemas.openxmlformats.org/drawingml/2006/main">
            <a:off x="6800850" y="2038350"/>
            <a:ext cx="238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769E0"/>
                </a:solidFill>
              </a:defRPr>
            </a:pPr>
            <a:r>
              <a:rPr sz="825" b="1">
                <a:solidFill>
                  <a:srgbClr val="1769E0"/>
                </a:solidFill>
              </a:rPr>
              <a:t>5</a:t>
            </a:r>
          </a:p>
        </p:txBody>
      </p:sp>
      <p:sp>
        <p:nvSpPr>
          <p:cNvPr id="24" name="">
            <a:extLst xmlns:a="http://schemas.openxmlformats.org/drawingml/2006/main">
              <a:ext uri="{FF2B5EF4-FFF2-40B4-BE49-F238E27FC236}">
                <a16:creationId xmlns:a16="http://schemas.microsoft.com/office/drawing/2014/main" id="{B7BE0F74-DCBE-4FFA-9851-5D66FD56D02F}"/>
              </a:ext>
            </a:extLst>
          </p:cNvPr>
          <p:cNvSpPr>
            <a:spLocks xmlns:a="http://schemas.openxmlformats.org/drawingml/2006/main" noGrp="1"/>
          </p:cNvSpPr>
          <p:nvPr/>
        </p:nvSpPr>
        <p:spPr>
          <a:xfrm xmlns:a="http://schemas.openxmlformats.org/drawingml/2006/main">
            <a:off x="6800850" y="2305050"/>
            <a:ext cx="106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B1F3A"/>
                </a:solidFill>
              </a:defRPr>
            </a:pPr>
            <a:r>
              <a:rPr sz="1275" b="1">
                <a:solidFill>
                  <a:srgbClr val="0B1F3A"/>
                </a:solidFill>
              </a:rPr>
              <a:t>Policy</a:t>
            </a:r>
          </a:p>
        </p:txBody>
      </p:sp>
      <p:sp>
        <p:nvSpPr>
          <p:cNvPr id="25" name="">
            <a:extLst xmlns:a="http://schemas.openxmlformats.org/drawingml/2006/main">
              <a:ext uri="{FF2B5EF4-FFF2-40B4-BE49-F238E27FC236}">
                <a16:creationId xmlns:a16="http://schemas.microsoft.com/office/drawing/2014/main" id="{DE7DF828-C846-4F94-87D4-8E3604458072}"/>
              </a:ext>
            </a:extLst>
          </p:cNvPr>
          <p:cNvSpPr>
            <a:spLocks xmlns:a="http://schemas.openxmlformats.org/drawingml/2006/main" noGrp="1"/>
          </p:cNvSpPr>
          <p:nvPr/>
        </p:nvSpPr>
        <p:spPr>
          <a:xfrm xmlns:a="http://schemas.openxmlformats.org/drawingml/2006/main">
            <a:off x="7962900" y="2190750"/>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1769E0"/>
                </a:solidFill>
              </a:defRPr>
            </a:pPr>
            <a:r>
              <a:rPr sz="1725" b="1">
                <a:solidFill>
                  <a:srgbClr val="1769E0"/>
                </a:solidFill>
              </a:rPr>
              <a:t>→</a:t>
            </a:r>
          </a:p>
        </p:txBody>
      </p:sp>
      <p:sp>
        <p:nvSpPr>
          <p:cNvPr id="26" name="">
            <a:extLst xmlns:a="http://schemas.openxmlformats.org/drawingml/2006/main">
              <a:ext uri="{FF2B5EF4-FFF2-40B4-BE49-F238E27FC236}">
                <a16:creationId xmlns:a16="http://schemas.microsoft.com/office/drawing/2014/main" id="{AE3124B0-70C6-40E0-B5DC-5DAE586CAD01}"/>
              </a:ext>
            </a:extLst>
          </p:cNvPr>
          <p:cNvSpPr>
            <a:spLocks xmlns:a="http://schemas.openxmlformats.org/drawingml/2006/main" noGrp="1"/>
          </p:cNvSpPr>
          <p:nvPr/>
        </p:nvSpPr>
        <p:spPr>
          <a:xfrm xmlns:a="http://schemas.openxmlformats.org/drawingml/2006/main">
            <a:off x="8229600" y="1943100"/>
            <a:ext cx="1257300" cy="876300"/>
          </a:xfrm>
          <a:prstGeom xmlns:a="http://schemas.openxmlformats.org/drawingml/2006/main" prst="roundRect">
            <a:avLst>
              <a:gd name="adj" fmla="val 8696"/>
            </a:avLst>
          </a:prstGeom>
          <a:solidFill xmlns:a="http://schemas.openxmlformats.org/drawingml/2006/main">
            <a:srgbClr val="EAF2FF"/>
          </a:solidFill>
          <a:ln xmlns:a="http://schemas.openxmlformats.org/drawingml/2006/main" w="9525">
            <a:solidFill>
              <a:srgbClr val="D8E1EC"/>
            </a:solidFill>
            <a:prstDash val="solid"/>
          </a:ln>
        </p:spPr>
      </p:sp>
      <p:sp>
        <p:nvSpPr>
          <p:cNvPr id="27" name="">
            <a:extLst xmlns:a="http://schemas.openxmlformats.org/drawingml/2006/main">
              <a:ext uri="{FF2B5EF4-FFF2-40B4-BE49-F238E27FC236}">
                <a16:creationId xmlns:a16="http://schemas.microsoft.com/office/drawing/2014/main" id="{241B3763-1E03-4F59-BA92-F46043572D2C}"/>
              </a:ext>
            </a:extLst>
          </p:cNvPr>
          <p:cNvSpPr>
            <a:spLocks xmlns:a="http://schemas.openxmlformats.org/drawingml/2006/main" noGrp="1"/>
          </p:cNvSpPr>
          <p:nvPr/>
        </p:nvSpPr>
        <p:spPr>
          <a:xfrm xmlns:a="http://schemas.openxmlformats.org/drawingml/2006/main">
            <a:off x="8324850" y="2038350"/>
            <a:ext cx="238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769E0"/>
                </a:solidFill>
              </a:defRPr>
            </a:pPr>
            <a:r>
              <a:rPr sz="825" b="1">
                <a:solidFill>
                  <a:srgbClr val="1769E0"/>
                </a:solidFill>
              </a:rPr>
              <a:t>6</a:t>
            </a:r>
          </a:p>
        </p:txBody>
      </p:sp>
      <p:sp>
        <p:nvSpPr>
          <p:cNvPr id="28" name="">
            <a:extLst xmlns:a="http://schemas.openxmlformats.org/drawingml/2006/main">
              <a:ext uri="{FF2B5EF4-FFF2-40B4-BE49-F238E27FC236}">
                <a16:creationId xmlns:a16="http://schemas.microsoft.com/office/drawing/2014/main" id="{D3C32CA9-2EC0-4396-8503-9922420CEA5C}"/>
              </a:ext>
            </a:extLst>
          </p:cNvPr>
          <p:cNvSpPr>
            <a:spLocks xmlns:a="http://schemas.openxmlformats.org/drawingml/2006/main" noGrp="1"/>
          </p:cNvSpPr>
          <p:nvPr/>
        </p:nvSpPr>
        <p:spPr>
          <a:xfrm xmlns:a="http://schemas.openxmlformats.org/drawingml/2006/main">
            <a:off x="8324850" y="2305050"/>
            <a:ext cx="106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B1F3A"/>
                </a:solidFill>
              </a:defRPr>
            </a:pPr>
            <a:r>
              <a:rPr sz="1275" b="1">
                <a:solidFill>
                  <a:srgbClr val="0B1F3A"/>
                </a:solidFill>
              </a:rPr>
              <a:t>Distribute</a:t>
            </a:r>
          </a:p>
        </p:txBody>
      </p:sp>
      <p:sp>
        <p:nvSpPr>
          <p:cNvPr id="29" name="">
            <a:extLst xmlns:a="http://schemas.openxmlformats.org/drawingml/2006/main">
              <a:ext uri="{FF2B5EF4-FFF2-40B4-BE49-F238E27FC236}">
                <a16:creationId xmlns:a16="http://schemas.microsoft.com/office/drawing/2014/main" id="{6E350F31-7BDC-4FC3-B54C-83BAC0F624E6}"/>
              </a:ext>
            </a:extLst>
          </p:cNvPr>
          <p:cNvSpPr>
            <a:spLocks xmlns:a="http://schemas.openxmlformats.org/drawingml/2006/main" noGrp="1"/>
          </p:cNvSpPr>
          <p:nvPr/>
        </p:nvSpPr>
        <p:spPr>
          <a:xfrm xmlns:a="http://schemas.openxmlformats.org/drawingml/2006/main">
            <a:off x="9486900" y="2190750"/>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1769E0"/>
                </a:solidFill>
              </a:defRPr>
            </a:pPr>
            <a:r>
              <a:rPr sz="1725" b="1">
                <a:solidFill>
                  <a:srgbClr val="1769E0"/>
                </a:solidFill>
              </a:rPr>
              <a:t>→</a:t>
            </a:r>
          </a:p>
        </p:txBody>
      </p:sp>
      <p:sp>
        <p:nvSpPr>
          <p:cNvPr id="30" name="">
            <a:extLst xmlns:a="http://schemas.openxmlformats.org/drawingml/2006/main">
              <a:ext uri="{FF2B5EF4-FFF2-40B4-BE49-F238E27FC236}">
                <a16:creationId xmlns:a16="http://schemas.microsoft.com/office/drawing/2014/main" id="{A3F04A09-E786-494B-AD2B-2DD049C84984}"/>
              </a:ext>
            </a:extLst>
          </p:cNvPr>
          <p:cNvSpPr>
            <a:spLocks xmlns:a="http://schemas.openxmlformats.org/drawingml/2006/main" noGrp="1"/>
          </p:cNvSpPr>
          <p:nvPr/>
        </p:nvSpPr>
        <p:spPr>
          <a:xfrm xmlns:a="http://schemas.openxmlformats.org/drawingml/2006/main">
            <a:off x="9753600" y="1943100"/>
            <a:ext cx="1257300" cy="876300"/>
          </a:xfrm>
          <a:prstGeom xmlns:a="http://schemas.openxmlformats.org/drawingml/2006/main" prst="roundRect">
            <a:avLst>
              <a:gd name="adj" fmla="val 8696"/>
            </a:avLst>
          </a:prstGeom>
          <a:solidFill xmlns:a="http://schemas.openxmlformats.org/drawingml/2006/main">
            <a:srgbClr val="EAF2FF"/>
          </a:solidFill>
          <a:ln xmlns:a="http://schemas.openxmlformats.org/drawingml/2006/main" w="9525">
            <a:solidFill>
              <a:srgbClr val="D8E1EC"/>
            </a:solidFill>
            <a:prstDash val="solid"/>
          </a:ln>
        </p:spPr>
      </p:sp>
      <p:sp>
        <p:nvSpPr>
          <p:cNvPr id="31" name="">
            <a:extLst xmlns:a="http://schemas.openxmlformats.org/drawingml/2006/main">
              <a:ext uri="{FF2B5EF4-FFF2-40B4-BE49-F238E27FC236}">
                <a16:creationId xmlns:a16="http://schemas.microsoft.com/office/drawing/2014/main" id="{AE58BB10-D644-4EF7-9DCC-8FF4BE5BFA2A}"/>
              </a:ext>
            </a:extLst>
          </p:cNvPr>
          <p:cNvSpPr>
            <a:spLocks xmlns:a="http://schemas.openxmlformats.org/drawingml/2006/main" noGrp="1"/>
          </p:cNvSpPr>
          <p:nvPr/>
        </p:nvSpPr>
        <p:spPr>
          <a:xfrm xmlns:a="http://schemas.openxmlformats.org/drawingml/2006/main">
            <a:off x="9848850" y="2038350"/>
            <a:ext cx="238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769E0"/>
                </a:solidFill>
              </a:defRPr>
            </a:pPr>
            <a:r>
              <a:rPr sz="825" b="1">
                <a:solidFill>
                  <a:srgbClr val="1769E0"/>
                </a:solidFill>
              </a:rPr>
              <a:t>7</a:t>
            </a:r>
          </a:p>
        </p:txBody>
      </p:sp>
      <p:sp>
        <p:nvSpPr>
          <p:cNvPr id="32" name="">
            <a:extLst xmlns:a="http://schemas.openxmlformats.org/drawingml/2006/main">
              <a:ext uri="{FF2B5EF4-FFF2-40B4-BE49-F238E27FC236}">
                <a16:creationId xmlns:a16="http://schemas.microsoft.com/office/drawing/2014/main" id="{9243610E-50F3-4462-B3AE-2897F69C4F40}"/>
              </a:ext>
            </a:extLst>
          </p:cNvPr>
          <p:cNvSpPr>
            <a:spLocks xmlns:a="http://schemas.openxmlformats.org/drawingml/2006/main" noGrp="1"/>
          </p:cNvSpPr>
          <p:nvPr/>
        </p:nvSpPr>
        <p:spPr>
          <a:xfrm xmlns:a="http://schemas.openxmlformats.org/drawingml/2006/main">
            <a:off x="9848850" y="2305050"/>
            <a:ext cx="106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B1F3A"/>
                </a:solidFill>
              </a:defRPr>
            </a:pPr>
            <a:r>
              <a:rPr sz="1275" b="1">
                <a:solidFill>
                  <a:srgbClr val="0B1F3A"/>
                </a:solidFill>
              </a:rPr>
              <a:t>Act</a:t>
            </a:r>
          </a:p>
        </p:txBody>
      </p:sp>
      <p:sp>
        <p:nvSpPr>
          <p:cNvPr id="33" name="">
            <a:extLst xmlns:a="http://schemas.openxmlformats.org/drawingml/2006/main">
              <a:ext uri="{FF2B5EF4-FFF2-40B4-BE49-F238E27FC236}">
                <a16:creationId xmlns:a16="http://schemas.microsoft.com/office/drawing/2014/main" id="{D3197221-DCA4-4703-9C07-0DBEAD4ECF2C}"/>
              </a:ext>
            </a:extLst>
          </p:cNvPr>
          <p:cNvSpPr>
            <a:spLocks xmlns:a="http://schemas.openxmlformats.org/drawingml/2006/main" noGrp="1"/>
          </p:cNvSpPr>
          <p:nvPr/>
        </p:nvSpPr>
        <p:spPr>
          <a:xfrm xmlns:a="http://schemas.openxmlformats.org/drawingml/2006/main">
            <a:off x="609600" y="3009900"/>
            <a:ext cx="1257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5F6B7A"/>
                </a:solidFill>
              </a:defRPr>
            </a:pPr>
            <a:r>
              <a:rPr sz="975" b="1">
                <a:solidFill>
                  <a:srgbClr val="5F6B7A"/>
                </a:solidFill>
              </a:rPr>
              <a:t>Evidence Registry</a:t>
            </a:r>
          </a:p>
        </p:txBody>
      </p:sp>
      <p:sp>
        <p:nvSpPr>
          <p:cNvPr id="34" name="">
            <a:extLst xmlns:a="http://schemas.openxmlformats.org/drawingml/2006/main">
              <a:ext uri="{FF2B5EF4-FFF2-40B4-BE49-F238E27FC236}">
                <a16:creationId xmlns:a16="http://schemas.microsoft.com/office/drawing/2014/main" id="{ED7780C5-6288-4120-A7EC-9B519FB4DF42}"/>
              </a:ext>
            </a:extLst>
          </p:cNvPr>
          <p:cNvSpPr>
            <a:spLocks xmlns:a="http://schemas.openxmlformats.org/drawingml/2006/main" noGrp="1"/>
          </p:cNvSpPr>
          <p:nvPr/>
        </p:nvSpPr>
        <p:spPr>
          <a:xfrm xmlns:a="http://schemas.openxmlformats.org/drawingml/2006/main">
            <a:off x="2133600" y="3009900"/>
            <a:ext cx="1257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5F6B7A"/>
                </a:solidFill>
              </a:defRPr>
            </a:pPr>
            <a:r>
              <a:rPr sz="975" b="1">
                <a:solidFill>
                  <a:srgbClr val="5F6B7A"/>
                </a:solidFill>
              </a:rPr>
              <a:t>Aggregation + QC</a:t>
            </a:r>
          </a:p>
        </p:txBody>
      </p:sp>
      <p:sp>
        <p:nvSpPr>
          <p:cNvPr id="35" name="">
            <a:extLst xmlns:a="http://schemas.openxmlformats.org/drawingml/2006/main">
              <a:ext uri="{FF2B5EF4-FFF2-40B4-BE49-F238E27FC236}">
                <a16:creationId xmlns:a16="http://schemas.microsoft.com/office/drawing/2014/main" id="{6C1B7DCC-45CF-4254-8BF9-4B80D61CCDE3}"/>
              </a:ext>
            </a:extLst>
          </p:cNvPr>
          <p:cNvSpPr>
            <a:spLocks xmlns:a="http://schemas.openxmlformats.org/drawingml/2006/main" noGrp="1"/>
          </p:cNvSpPr>
          <p:nvPr/>
        </p:nvSpPr>
        <p:spPr>
          <a:xfrm xmlns:a="http://schemas.openxmlformats.org/drawingml/2006/main">
            <a:off x="3657600" y="3009900"/>
            <a:ext cx="1257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5F6B7A"/>
                </a:solidFill>
              </a:defRPr>
            </a:pPr>
            <a:r>
              <a:rPr sz="975" b="1">
                <a:solidFill>
                  <a:srgbClr val="5F6B7A"/>
                </a:solidFill>
              </a:rPr>
              <a:t>Feature normalization</a:t>
            </a:r>
          </a:p>
        </p:txBody>
      </p:sp>
      <p:sp>
        <p:nvSpPr>
          <p:cNvPr id="36" name="">
            <a:extLst xmlns:a="http://schemas.openxmlformats.org/drawingml/2006/main">
              <a:ext uri="{FF2B5EF4-FFF2-40B4-BE49-F238E27FC236}">
                <a16:creationId xmlns:a16="http://schemas.microsoft.com/office/drawing/2014/main" id="{0EAEE3DF-D5A6-469E-B583-62832BC7D189}"/>
              </a:ext>
            </a:extLst>
          </p:cNvPr>
          <p:cNvSpPr>
            <a:spLocks xmlns:a="http://schemas.openxmlformats.org/drawingml/2006/main" noGrp="1"/>
          </p:cNvSpPr>
          <p:nvPr/>
        </p:nvSpPr>
        <p:spPr>
          <a:xfrm xmlns:a="http://schemas.openxmlformats.org/drawingml/2006/main">
            <a:off x="5181600" y="3009900"/>
            <a:ext cx="1257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5F6B7A"/>
                </a:solidFill>
              </a:defRPr>
            </a:pPr>
            <a:r>
              <a:rPr sz="975" b="1">
                <a:solidFill>
                  <a:srgbClr val="5F6B7A"/>
                </a:solidFill>
              </a:rPr>
              <a:t>Readiness scoring</a:t>
            </a:r>
          </a:p>
        </p:txBody>
      </p:sp>
      <p:sp>
        <p:nvSpPr>
          <p:cNvPr id="37" name="">
            <a:extLst xmlns:a="http://schemas.openxmlformats.org/drawingml/2006/main">
              <a:ext uri="{FF2B5EF4-FFF2-40B4-BE49-F238E27FC236}">
                <a16:creationId xmlns:a16="http://schemas.microsoft.com/office/drawing/2014/main" id="{015B1CC8-45CC-4B4A-8410-EE872B494E2D}"/>
              </a:ext>
            </a:extLst>
          </p:cNvPr>
          <p:cNvSpPr>
            <a:spLocks xmlns:a="http://schemas.openxmlformats.org/drawingml/2006/main" noGrp="1"/>
          </p:cNvSpPr>
          <p:nvPr/>
        </p:nvSpPr>
        <p:spPr>
          <a:xfrm xmlns:a="http://schemas.openxmlformats.org/drawingml/2006/main">
            <a:off x="6705600" y="3009900"/>
            <a:ext cx="1257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5F6B7A"/>
                </a:solidFill>
              </a:defRPr>
            </a:pPr>
            <a:r>
              <a:rPr sz="975" b="1">
                <a:solidFill>
                  <a:srgbClr val="5F6B7A"/>
                </a:solidFill>
              </a:rPr>
              <a:t>Safety + privacy</a:t>
            </a:r>
          </a:p>
        </p:txBody>
      </p:sp>
      <p:sp>
        <p:nvSpPr>
          <p:cNvPr id="38" name="">
            <a:extLst xmlns:a="http://schemas.openxmlformats.org/drawingml/2006/main">
              <a:ext uri="{FF2B5EF4-FFF2-40B4-BE49-F238E27FC236}">
                <a16:creationId xmlns:a16="http://schemas.microsoft.com/office/drawing/2014/main" id="{EBD811D6-BD54-445C-8775-C835BAD508FC}"/>
              </a:ext>
            </a:extLst>
          </p:cNvPr>
          <p:cNvSpPr>
            <a:spLocks xmlns:a="http://schemas.openxmlformats.org/drawingml/2006/main" noGrp="1"/>
          </p:cNvSpPr>
          <p:nvPr/>
        </p:nvSpPr>
        <p:spPr>
          <a:xfrm xmlns:a="http://schemas.openxmlformats.org/drawingml/2006/main">
            <a:off x="8229600" y="3009900"/>
            <a:ext cx="1257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5F6B7A"/>
                </a:solidFill>
              </a:defRPr>
            </a:pPr>
            <a:r>
              <a:rPr sz="975" b="1">
                <a:solidFill>
                  <a:srgbClr val="5F6B7A"/>
                </a:solidFill>
              </a:rPr>
              <a:t>Dashboards + exports</a:t>
            </a:r>
          </a:p>
        </p:txBody>
      </p:sp>
      <p:sp>
        <p:nvSpPr>
          <p:cNvPr id="39" name="">
            <a:extLst xmlns:a="http://schemas.openxmlformats.org/drawingml/2006/main">
              <a:ext uri="{FF2B5EF4-FFF2-40B4-BE49-F238E27FC236}">
                <a16:creationId xmlns:a16="http://schemas.microsoft.com/office/drawing/2014/main" id="{E78DC3C3-4F3B-4F11-AFC1-CDFB88E3A5FE}"/>
              </a:ext>
            </a:extLst>
          </p:cNvPr>
          <p:cNvSpPr>
            <a:spLocks xmlns:a="http://schemas.openxmlformats.org/drawingml/2006/main" noGrp="1"/>
          </p:cNvSpPr>
          <p:nvPr/>
        </p:nvSpPr>
        <p:spPr>
          <a:xfrm xmlns:a="http://schemas.openxmlformats.org/drawingml/2006/main">
            <a:off x="9753600" y="3009900"/>
            <a:ext cx="1257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5F6B7A"/>
                </a:solidFill>
              </a:defRPr>
            </a:pPr>
            <a:r>
              <a:rPr sz="975" b="1">
                <a:solidFill>
                  <a:srgbClr val="5F6B7A"/>
                </a:solidFill>
              </a:rPr>
              <a:t>Plans + interventions</a:t>
            </a:r>
          </a:p>
        </p:txBody>
      </p:sp>
      <p:sp>
        <p:nvSpPr>
          <p:cNvPr id="40" name="">
            <a:extLst xmlns:a="http://schemas.openxmlformats.org/drawingml/2006/main">
              <a:ext uri="{FF2B5EF4-FFF2-40B4-BE49-F238E27FC236}">
                <a16:creationId xmlns:a16="http://schemas.microsoft.com/office/drawing/2014/main" id="{10ADC622-BB9D-4032-B3B1-000CCF09A694}"/>
              </a:ext>
            </a:extLst>
          </p:cNvPr>
          <p:cNvSpPr>
            <a:spLocks xmlns:a="http://schemas.openxmlformats.org/drawingml/2006/main" noGrp="1"/>
          </p:cNvSpPr>
          <p:nvPr/>
        </p:nvSpPr>
        <p:spPr>
          <a:xfrm xmlns:a="http://schemas.openxmlformats.org/drawingml/2006/main">
            <a:off x="609600" y="4019550"/>
            <a:ext cx="10401300" cy="1352550"/>
          </a:xfrm>
          <a:prstGeom xmlns:a="http://schemas.openxmlformats.org/drawingml/2006/main" prst="roundRect">
            <a:avLst>
              <a:gd name="adj" fmla="val 8451"/>
            </a:avLst>
          </a:prstGeom>
          <a:solidFill xmlns:a="http://schemas.openxmlformats.org/drawingml/2006/main">
            <a:srgbClr val="0B1F3A"/>
          </a:solidFill>
          <a:ln xmlns:a="http://schemas.openxmlformats.org/drawingml/2006/main" w="9525">
            <a:solidFill>
              <a:srgbClr val="0B1F3A"/>
            </a:solidFill>
            <a:prstDash val="solid"/>
          </a:ln>
        </p:spPr>
      </p:sp>
      <p:sp>
        <p:nvSpPr>
          <p:cNvPr id="41" name="">
            <a:extLst xmlns:a="http://schemas.openxmlformats.org/drawingml/2006/main">
              <a:ext uri="{FF2B5EF4-FFF2-40B4-BE49-F238E27FC236}">
                <a16:creationId xmlns:a16="http://schemas.microsoft.com/office/drawing/2014/main" id="{4DB509C2-6842-4B1C-A68E-69C48040BEE7}"/>
              </a:ext>
            </a:extLst>
          </p:cNvPr>
          <p:cNvSpPr>
            <a:spLocks xmlns:a="http://schemas.openxmlformats.org/drawingml/2006/main" noGrp="1"/>
          </p:cNvSpPr>
          <p:nvPr/>
        </p:nvSpPr>
        <p:spPr>
          <a:xfrm xmlns:a="http://schemas.openxmlformats.org/drawingml/2006/main">
            <a:off x="857250" y="42481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2B8C4"/>
                </a:solidFill>
              </a:defRPr>
            </a:pPr>
            <a:r>
              <a:rPr sz="1050" b="1">
                <a:solidFill>
                  <a:srgbClr val="12B8C4"/>
                </a:solidFill>
              </a:rPr>
              <a:t>Judge shortcut</a:t>
            </a:r>
          </a:p>
        </p:txBody>
      </p:sp>
      <p:sp>
        <p:nvSpPr>
          <p:cNvPr id="42" name="">
            <a:extLst xmlns:a="http://schemas.openxmlformats.org/drawingml/2006/main">
              <a:ext uri="{FF2B5EF4-FFF2-40B4-BE49-F238E27FC236}">
                <a16:creationId xmlns:a16="http://schemas.microsoft.com/office/drawing/2014/main" id="{FC52D266-A9A0-4476-8F7A-A5B039DCCA39}"/>
              </a:ext>
            </a:extLst>
          </p:cNvPr>
          <p:cNvSpPr>
            <a:spLocks xmlns:a="http://schemas.openxmlformats.org/drawingml/2006/main" noGrp="1"/>
          </p:cNvSpPr>
          <p:nvPr/>
        </p:nvSpPr>
        <p:spPr>
          <a:xfrm xmlns:a="http://schemas.openxmlformats.org/drawingml/2006/main">
            <a:off x="857250" y="4610100"/>
            <a:ext cx="952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FFFFFF"/>
                </a:solidFill>
              </a:defRPr>
            </a:pPr>
            <a:r>
              <a:rPr sz="1800" b="1">
                <a:solidFill>
                  <a:srgbClr val="FFFFFF"/>
                </a:solidFill>
              </a:rPr>
              <a:t>Open /standards → inspect node evidence → follow the linked implementation.</a:t>
            </a:r>
          </a:p>
        </p:txBody>
      </p:sp>
    </p:spTree>
    <p:extLst>
      <p:ext uri="{BB962C8B-B14F-4D97-AF65-F5344CB8AC3E}">
        <p14:creationId xmlns:p14="http://schemas.microsoft.com/office/powerpoint/2010/main" val="22740650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AF71DD99-9FCB-4FA0-9B69-F65124403E69}"/>
              </a:ext>
            </a:extLst>
          </p:cNvPr>
          <p:cNvSpPr>
            <a:spLocks xmlns:a="http://schemas.openxmlformats.org/drawingml/2006/main" noGrp="1"/>
          </p:cNvSpPr>
          <p:nvPr/>
        </p:nvSpPr>
        <p:spPr>
          <a:xfrm xmlns:a="http://schemas.openxmlformats.org/drawingml/2006/main">
            <a:off x="609600" y="38100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1769E0"/>
                </a:solidFill>
              </a:defRPr>
            </a:pPr>
            <a:r>
              <a:rPr sz="975" b="1">
                <a:solidFill>
                  <a:srgbClr val="1769E0"/>
                </a:solidFill>
              </a:rPr>
              <a:t>04 · OFFICIAL CRITERIA</a:t>
            </a:r>
          </a:p>
        </p:txBody>
      </p:sp>
      <p:sp>
        <p:nvSpPr>
          <p:cNvPr id="2" name="">
            <a:extLst xmlns:a="http://schemas.openxmlformats.org/drawingml/2006/main">
              <a:ext uri="{FF2B5EF4-FFF2-40B4-BE49-F238E27FC236}">
                <a16:creationId xmlns:a16="http://schemas.microsoft.com/office/drawing/2014/main" id="{ED039BC4-AEF3-4C8F-86D2-C981524B922C}"/>
              </a:ext>
            </a:extLst>
          </p:cNvPr>
          <p:cNvSpPr>
            <a:spLocks xmlns:a="http://schemas.openxmlformats.org/drawingml/2006/main" noGrp="1"/>
          </p:cNvSpPr>
          <p:nvPr/>
        </p:nvSpPr>
        <p:spPr>
          <a:xfrm xmlns:a="http://schemas.openxmlformats.org/drawingml/2006/main">
            <a:off x="609600" y="74295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B1F3A"/>
                </a:solidFill>
              </a:defRPr>
            </a:pPr>
            <a:r>
              <a:rPr sz="2700" b="1">
                <a:solidFill>
                  <a:srgbClr val="0B1F3A"/>
                </a:solidFill>
              </a:rPr>
              <a:t>Four criteria, one continuous proof chain</a:t>
            </a:r>
          </a:p>
        </p:txBody>
      </p:sp>
      <p:sp>
        <p:nvSpPr>
          <p:cNvPr id="3" name="">
            <a:extLst xmlns:a="http://schemas.openxmlformats.org/drawingml/2006/main">
              <a:ext uri="{FF2B5EF4-FFF2-40B4-BE49-F238E27FC236}">
                <a16:creationId xmlns:a16="http://schemas.microsoft.com/office/drawing/2014/main" id="{37594C92-7A39-4173-A7E5-2E9DB446F444}"/>
              </a:ext>
            </a:extLst>
          </p:cNvPr>
          <p:cNvSpPr>
            <a:spLocks xmlns:a="http://schemas.openxmlformats.org/drawingml/2006/main" noGrp="1"/>
          </p:cNvSpPr>
          <p:nvPr/>
        </p:nvSpPr>
        <p:spPr>
          <a:xfrm xmlns:a="http://schemas.openxmlformats.org/drawingml/2006/main">
            <a:off x="11182350" y="40005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F6B7A"/>
                </a:solidFill>
              </a:defRPr>
            </a:pPr>
            <a:r>
              <a:rPr sz="900" b="1">
                <a:solidFill>
                  <a:srgbClr val="5F6B7A"/>
                </a:solidFill>
              </a:rPr>
              <a:t>05</a:t>
            </a:r>
          </a:p>
        </p:txBody>
      </p:sp>
      <p:sp>
        <p:nvSpPr>
          <p:cNvPr id="4" name="">
            <a:extLst xmlns:a="http://schemas.openxmlformats.org/drawingml/2006/main">
              <a:ext uri="{FF2B5EF4-FFF2-40B4-BE49-F238E27FC236}">
                <a16:creationId xmlns:a16="http://schemas.microsoft.com/office/drawing/2014/main" id="{C1E3AC2B-BB62-4540-B5EF-ECA7AC55F3B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1EC"/>
            </a:solidFill>
            <a:prstDash val="solid"/>
          </a:ln>
        </p:spPr>
      </p:sp>
      <p:sp>
        <p:nvSpPr>
          <p:cNvPr id="5" name="">
            <a:extLst xmlns:a="http://schemas.openxmlformats.org/drawingml/2006/main">
              <a:ext uri="{FF2B5EF4-FFF2-40B4-BE49-F238E27FC236}">
                <a16:creationId xmlns:a16="http://schemas.microsoft.com/office/drawing/2014/main" id="{74C0E27B-5181-409D-8541-67CBA8DC2478}"/>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6B7A"/>
                </a:solidFill>
              </a:defRPr>
            </a:pPr>
            <a:r>
              <a:rPr sz="750" b="1">
                <a:solidFill>
                  <a:srgbClr val="5F6B7A"/>
                </a:solidFill>
              </a:rPr>
              <a:t>FURSAH · AI-POWERED WORKFORCE READINESS</a:t>
            </a:r>
          </a:p>
        </p:txBody>
      </p:sp>
      <p:sp>
        <p:nvSpPr>
          <p:cNvPr id="6" name="">
            <a:extLst xmlns:a="http://schemas.openxmlformats.org/drawingml/2006/main">
              <a:ext uri="{FF2B5EF4-FFF2-40B4-BE49-F238E27FC236}">
                <a16:creationId xmlns:a16="http://schemas.microsoft.com/office/drawing/2014/main" id="{49B24CC8-8F70-4661-8B00-79E7C7DEC95E}"/>
              </a:ext>
            </a:extLst>
          </p:cNvPr>
          <p:cNvSpPr>
            <a:spLocks xmlns:a="http://schemas.openxmlformats.org/drawingml/2006/main" noGrp="1"/>
          </p:cNvSpPr>
          <p:nvPr/>
        </p:nvSpPr>
        <p:spPr>
          <a:xfrm xmlns:a="http://schemas.openxmlformats.org/drawingml/2006/main">
            <a:off x="609600" y="1752600"/>
            <a:ext cx="2362200" cy="1581150"/>
          </a:xfrm>
          <a:prstGeom xmlns:a="http://schemas.openxmlformats.org/drawingml/2006/main" prst="roundRect">
            <a:avLst>
              <a:gd name="adj" fmla="val 7229"/>
            </a:avLst>
          </a:prstGeom>
          <a:solidFill xmlns:a="http://schemas.openxmlformats.org/drawingml/2006/main">
            <a:srgbClr val="1769E0"/>
          </a:solidFill>
          <a:ln xmlns:a="http://schemas.openxmlformats.org/drawingml/2006/main" w="9525">
            <a:solidFill>
              <a:srgbClr val="D8E1EC"/>
            </a:solidFill>
            <a:prstDash val="solid"/>
          </a:ln>
        </p:spPr>
      </p:sp>
      <p:sp>
        <p:nvSpPr>
          <p:cNvPr id="7" name="">
            <a:extLst xmlns:a="http://schemas.openxmlformats.org/drawingml/2006/main">
              <a:ext uri="{FF2B5EF4-FFF2-40B4-BE49-F238E27FC236}">
                <a16:creationId xmlns:a16="http://schemas.microsoft.com/office/drawing/2014/main" id="{61959162-EA2D-4385-BCEF-D97E82B2B762}"/>
              </a:ext>
            </a:extLst>
          </p:cNvPr>
          <p:cNvSpPr>
            <a:spLocks xmlns:a="http://schemas.openxmlformats.org/drawingml/2006/main" noGrp="1"/>
          </p:cNvSpPr>
          <p:nvPr/>
        </p:nvSpPr>
        <p:spPr>
          <a:xfrm xmlns:a="http://schemas.openxmlformats.org/drawingml/2006/main">
            <a:off x="800100" y="1943100"/>
            <a:ext cx="1981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150" b="1">
                <a:solidFill>
                  <a:srgbClr val="FFFFFF"/>
                </a:solidFill>
              </a:defRPr>
            </a:pPr>
            <a:r>
              <a:rPr sz="3150" b="1">
                <a:solidFill>
                  <a:srgbClr val="FFFFFF"/>
                </a:solidFill>
              </a:rPr>
              <a:t>7 / 7</a:t>
            </a:r>
          </a:p>
        </p:txBody>
      </p:sp>
      <p:sp>
        <p:nvSpPr>
          <p:cNvPr id="8" name="">
            <a:extLst xmlns:a="http://schemas.openxmlformats.org/drawingml/2006/main">
              <a:ext uri="{FF2B5EF4-FFF2-40B4-BE49-F238E27FC236}">
                <a16:creationId xmlns:a16="http://schemas.microsoft.com/office/drawing/2014/main" id="{17AEEFEE-92EB-43F9-ADB6-0C5159EE9B1F}"/>
              </a:ext>
            </a:extLst>
          </p:cNvPr>
          <p:cNvSpPr>
            <a:spLocks xmlns:a="http://schemas.openxmlformats.org/drawingml/2006/main" noGrp="1"/>
          </p:cNvSpPr>
          <p:nvPr/>
        </p:nvSpPr>
        <p:spPr>
          <a:xfrm xmlns:a="http://schemas.openxmlformats.org/drawingml/2006/main">
            <a:off x="800100" y="2647950"/>
            <a:ext cx="1981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Pipeline nodes</a:t>
            </a:r>
          </a:p>
        </p:txBody>
      </p:sp>
      <p:sp>
        <p:nvSpPr>
          <p:cNvPr id="9" name="">
            <a:extLst xmlns:a="http://schemas.openxmlformats.org/drawingml/2006/main">
              <a:ext uri="{FF2B5EF4-FFF2-40B4-BE49-F238E27FC236}">
                <a16:creationId xmlns:a16="http://schemas.microsoft.com/office/drawing/2014/main" id="{EF507F47-8262-4B04-98DE-C82A90CB3255}"/>
              </a:ext>
            </a:extLst>
          </p:cNvPr>
          <p:cNvSpPr>
            <a:spLocks xmlns:a="http://schemas.openxmlformats.org/drawingml/2006/main" noGrp="1"/>
          </p:cNvSpPr>
          <p:nvPr/>
        </p:nvSpPr>
        <p:spPr>
          <a:xfrm xmlns:a="http://schemas.openxmlformats.org/drawingml/2006/main">
            <a:off x="3257550" y="1752600"/>
            <a:ext cx="2362200" cy="1581150"/>
          </a:xfrm>
          <a:prstGeom xmlns:a="http://schemas.openxmlformats.org/drawingml/2006/main" prst="roundRect">
            <a:avLst>
              <a:gd name="adj" fmla="val 7229"/>
            </a:avLst>
          </a:prstGeom>
          <a:solidFill xmlns:a="http://schemas.openxmlformats.org/drawingml/2006/main">
            <a:srgbClr val="FFFFFF"/>
          </a:solidFill>
          <a:ln xmlns:a="http://schemas.openxmlformats.org/drawingml/2006/main" w="9525">
            <a:solidFill>
              <a:srgbClr val="D8E1EC"/>
            </a:solidFill>
            <a:prstDash val="solid"/>
          </a:ln>
        </p:spPr>
      </p:sp>
      <p:sp>
        <p:nvSpPr>
          <p:cNvPr id="10" name="">
            <a:extLst xmlns:a="http://schemas.openxmlformats.org/drawingml/2006/main">
              <a:ext uri="{FF2B5EF4-FFF2-40B4-BE49-F238E27FC236}">
                <a16:creationId xmlns:a16="http://schemas.microsoft.com/office/drawing/2014/main" id="{7AEC9CB0-A7AA-43E5-A4D2-0D17661C1ED4}"/>
              </a:ext>
            </a:extLst>
          </p:cNvPr>
          <p:cNvSpPr>
            <a:spLocks xmlns:a="http://schemas.openxmlformats.org/drawingml/2006/main" noGrp="1"/>
          </p:cNvSpPr>
          <p:nvPr/>
        </p:nvSpPr>
        <p:spPr>
          <a:xfrm xmlns:a="http://schemas.openxmlformats.org/drawingml/2006/main">
            <a:off x="3448050" y="1943100"/>
            <a:ext cx="1981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150" b="1">
                <a:solidFill>
                  <a:srgbClr val="0B1F3A"/>
                </a:solidFill>
              </a:defRPr>
            </a:pPr>
            <a:r>
              <a:rPr sz="3150" b="1">
                <a:solidFill>
                  <a:srgbClr val="0B1F3A"/>
                </a:solidFill>
              </a:rPr>
              <a:t>13 / 13</a:t>
            </a:r>
          </a:p>
        </p:txBody>
      </p:sp>
      <p:sp>
        <p:nvSpPr>
          <p:cNvPr id="11" name="">
            <a:extLst xmlns:a="http://schemas.openxmlformats.org/drawingml/2006/main">
              <a:ext uri="{FF2B5EF4-FFF2-40B4-BE49-F238E27FC236}">
                <a16:creationId xmlns:a16="http://schemas.microsoft.com/office/drawing/2014/main" id="{46E87876-822B-4CAB-8DF7-CFBA677881BD}"/>
              </a:ext>
            </a:extLst>
          </p:cNvPr>
          <p:cNvSpPr>
            <a:spLocks xmlns:a="http://schemas.openxmlformats.org/drawingml/2006/main" noGrp="1"/>
          </p:cNvSpPr>
          <p:nvPr/>
        </p:nvSpPr>
        <p:spPr>
          <a:xfrm xmlns:a="http://schemas.openxmlformats.org/drawingml/2006/main">
            <a:off x="3448050" y="2647950"/>
            <a:ext cx="1981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5F6B7A"/>
                </a:solidFill>
              </a:defRPr>
            </a:pPr>
            <a:r>
              <a:rPr sz="1200" b="1">
                <a:solidFill>
                  <a:srgbClr val="5F6B7A"/>
                </a:solidFill>
              </a:rPr>
              <a:t>Readiness dimensions</a:t>
            </a:r>
          </a:p>
        </p:txBody>
      </p:sp>
      <p:sp>
        <p:nvSpPr>
          <p:cNvPr id="12" name="">
            <a:extLst xmlns:a="http://schemas.openxmlformats.org/drawingml/2006/main">
              <a:ext uri="{FF2B5EF4-FFF2-40B4-BE49-F238E27FC236}">
                <a16:creationId xmlns:a16="http://schemas.microsoft.com/office/drawing/2014/main" id="{A9791640-C8D5-4B02-AD60-5F19DC2C5F2E}"/>
              </a:ext>
            </a:extLst>
          </p:cNvPr>
          <p:cNvSpPr>
            <a:spLocks xmlns:a="http://schemas.openxmlformats.org/drawingml/2006/main" noGrp="1"/>
          </p:cNvSpPr>
          <p:nvPr/>
        </p:nvSpPr>
        <p:spPr>
          <a:xfrm xmlns:a="http://schemas.openxmlformats.org/drawingml/2006/main">
            <a:off x="5905500" y="1752600"/>
            <a:ext cx="2362200" cy="1581150"/>
          </a:xfrm>
          <a:prstGeom xmlns:a="http://schemas.openxmlformats.org/drawingml/2006/main" prst="roundRect">
            <a:avLst>
              <a:gd name="adj" fmla="val 7229"/>
            </a:avLst>
          </a:prstGeom>
          <a:solidFill xmlns:a="http://schemas.openxmlformats.org/drawingml/2006/main">
            <a:srgbClr val="FFFFFF"/>
          </a:solidFill>
          <a:ln xmlns:a="http://schemas.openxmlformats.org/drawingml/2006/main" w="9525">
            <a:solidFill>
              <a:srgbClr val="D8E1EC"/>
            </a:solidFill>
            <a:prstDash val="solid"/>
          </a:ln>
        </p:spPr>
      </p:sp>
      <p:sp>
        <p:nvSpPr>
          <p:cNvPr id="13" name="">
            <a:extLst xmlns:a="http://schemas.openxmlformats.org/drawingml/2006/main">
              <a:ext uri="{FF2B5EF4-FFF2-40B4-BE49-F238E27FC236}">
                <a16:creationId xmlns:a16="http://schemas.microsoft.com/office/drawing/2014/main" id="{2F6DE577-787E-457E-B84C-CF93811785A4}"/>
              </a:ext>
            </a:extLst>
          </p:cNvPr>
          <p:cNvSpPr>
            <a:spLocks xmlns:a="http://schemas.openxmlformats.org/drawingml/2006/main" noGrp="1"/>
          </p:cNvSpPr>
          <p:nvPr/>
        </p:nvSpPr>
        <p:spPr>
          <a:xfrm xmlns:a="http://schemas.openxmlformats.org/drawingml/2006/main">
            <a:off x="6096000" y="1943100"/>
            <a:ext cx="1981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150" b="1">
                <a:solidFill>
                  <a:srgbClr val="0B1F3A"/>
                </a:solidFill>
              </a:defRPr>
            </a:pPr>
            <a:r>
              <a:rPr sz="3150" b="1">
                <a:solidFill>
                  <a:srgbClr val="0B1F3A"/>
                </a:solidFill>
              </a:rPr>
              <a:t>17</a:t>
            </a:r>
          </a:p>
        </p:txBody>
      </p:sp>
      <p:sp>
        <p:nvSpPr>
          <p:cNvPr id="14" name="">
            <a:extLst xmlns:a="http://schemas.openxmlformats.org/drawingml/2006/main">
              <a:ext uri="{FF2B5EF4-FFF2-40B4-BE49-F238E27FC236}">
                <a16:creationId xmlns:a16="http://schemas.microsoft.com/office/drawing/2014/main" id="{0DB7FF1F-A3DF-494D-A6FA-E816D1092417}"/>
              </a:ext>
            </a:extLst>
          </p:cNvPr>
          <p:cNvSpPr>
            <a:spLocks xmlns:a="http://schemas.openxmlformats.org/drawingml/2006/main" noGrp="1"/>
          </p:cNvSpPr>
          <p:nvPr/>
        </p:nvSpPr>
        <p:spPr>
          <a:xfrm xmlns:a="http://schemas.openxmlformats.org/drawingml/2006/main">
            <a:off x="6096000" y="2647950"/>
            <a:ext cx="1981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5F6B7A"/>
                </a:solidFill>
              </a:defRPr>
            </a:pPr>
            <a:r>
              <a:rPr sz="1200" b="1">
                <a:solidFill>
                  <a:srgbClr val="5F6B7A"/>
                </a:solidFill>
              </a:rPr>
              <a:t>Knowledge sources</a:t>
            </a:r>
          </a:p>
        </p:txBody>
      </p:sp>
      <p:sp>
        <p:nvSpPr>
          <p:cNvPr id="15" name="">
            <a:extLst xmlns:a="http://schemas.openxmlformats.org/drawingml/2006/main">
              <a:ext uri="{FF2B5EF4-FFF2-40B4-BE49-F238E27FC236}">
                <a16:creationId xmlns:a16="http://schemas.microsoft.com/office/drawing/2014/main" id="{7DA23BB2-4E13-47B4-9865-28E3BFBB614F}"/>
              </a:ext>
            </a:extLst>
          </p:cNvPr>
          <p:cNvSpPr>
            <a:spLocks xmlns:a="http://schemas.openxmlformats.org/drawingml/2006/main" noGrp="1"/>
          </p:cNvSpPr>
          <p:nvPr/>
        </p:nvSpPr>
        <p:spPr>
          <a:xfrm xmlns:a="http://schemas.openxmlformats.org/drawingml/2006/main">
            <a:off x="8553450" y="1752600"/>
            <a:ext cx="2362200" cy="1581150"/>
          </a:xfrm>
          <a:prstGeom xmlns:a="http://schemas.openxmlformats.org/drawingml/2006/main" prst="roundRect">
            <a:avLst>
              <a:gd name="adj" fmla="val 7229"/>
            </a:avLst>
          </a:prstGeom>
          <a:solidFill xmlns:a="http://schemas.openxmlformats.org/drawingml/2006/main">
            <a:srgbClr val="FFFFFF"/>
          </a:solidFill>
          <a:ln xmlns:a="http://schemas.openxmlformats.org/drawingml/2006/main" w="9525">
            <a:solidFill>
              <a:srgbClr val="D8E1EC"/>
            </a:solidFill>
            <a:prstDash val="solid"/>
          </a:ln>
        </p:spPr>
      </p:sp>
      <p:sp>
        <p:nvSpPr>
          <p:cNvPr id="16" name="">
            <a:extLst xmlns:a="http://schemas.openxmlformats.org/drawingml/2006/main">
              <a:ext uri="{FF2B5EF4-FFF2-40B4-BE49-F238E27FC236}">
                <a16:creationId xmlns:a16="http://schemas.microsoft.com/office/drawing/2014/main" id="{DA7CE159-D145-4649-B8BC-C7B1058AE7BC}"/>
              </a:ext>
            </a:extLst>
          </p:cNvPr>
          <p:cNvSpPr>
            <a:spLocks xmlns:a="http://schemas.openxmlformats.org/drawingml/2006/main" noGrp="1"/>
          </p:cNvSpPr>
          <p:nvPr/>
        </p:nvSpPr>
        <p:spPr>
          <a:xfrm xmlns:a="http://schemas.openxmlformats.org/drawingml/2006/main">
            <a:off x="8743950" y="1943100"/>
            <a:ext cx="1981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150" b="1">
                <a:solidFill>
                  <a:srgbClr val="0B1F3A"/>
                </a:solidFill>
              </a:defRPr>
            </a:pPr>
            <a:r>
              <a:rPr sz="3150" b="1">
                <a:solidFill>
                  <a:srgbClr val="0B1F3A"/>
                </a:solidFill>
              </a:rPr>
              <a:t>6</a:t>
            </a:r>
          </a:p>
        </p:txBody>
      </p:sp>
      <p:sp>
        <p:nvSpPr>
          <p:cNvPr id="17" name="">
            <a:extLst xmlns:a="http://schemas.openxmlformats.org/drawingml/2006/main">
              <a:ext uri="{FF2B5EF4-FFF2-40B4-BE49-F238E27FC236}">
                <a16:creationId xmlns:a16="http://schemas.microsoft.com/office/drawing/2014/main" id="{33FF7FE8-067E-431B-B053-E73BE3523589}"/>
              </a:ext>
            </a:extLst>
          </p:cNvPr>
          <p:cNvSpPr>
            <a:spLocks xmlns:a="http://schemas.openxmlformats.org/drawingml/2006/main" noGrp="1"/>
          </p:cNvSpPr>
          <p:nvPr/>
        </p:nvSpPr>
        <p:spPr>
          <a:xfrm xmlns:a="http://schemas.openxmlformats.org/drawingml/2006/main">
            <a:off x="8743950" y="2647950"/>
            <a:ext cx="1981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5F6B7A"/>
                </a:solidFill>
              </a:defRPr>
            </a:pPr>
            <a:r>
              <a:rPr sz="1200" b="1">
                <a:solidFill>
                  <a:srgbClr val="5F6B7A"/>
                </a:solidFill>
              </a:rPr>
              <a:t>Policy gaps</a:t>
            </a:r>
          </a:p>
        </p:txBody>
      </p:sp>
      <p:sp>
        <p:nvSpPr>
          <p:cNvPr id="18" name="">
            <a:extLst xmlns:a="http://schemas.openxmlformats.org/drawingml/2006/main">
              <a:ext uri="{FF2B5EF4-FFF2-40B4-BE49-F238E27FC236}">
                <a16:creationId xmlns:a16="http://schemas.microsoft.com/office/drawing/2014/main" id="{5A363D97-25F6-4974-8F30-E3FF14BA59F8}"/>
              </a:ext>
            </a:extLst>
          </p:cNvPr>
          <p:cNvSpPr>
            <a:spLocks xmlns:a="http://schemas.openxmlformats.org/drawingml/2006/main" noGrp="1"/>
          </p:cNvSpPr>
          <p:nvPr/>
        </p:nvSpPr>
        <p:spPr>
          <a:xfrm xmlns:a="http://schemas.openxmlformats.org/drawingml/2006/main">
            <a:off x="666750" y="3638550"/>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7875D"/>
                </a:solidFill>
              </a:defRPr>
            </a:pPr>
            <a:r>
              <a:rPr sz="1350" b="1">
                <a:solidFill>
                  <a:srgbClr val="17875D"/>
                </a:solidFill>
              </a:rPr>
              <a:t>✓</a:t>
            </a:r>
          </a:p>
        </p:txBody>
      </p:sp>
      <p:sp>
        <p:nvSpPr>
          <p:cNvPr id="19" name="">
            <a:extLst xmlns:a="http://schemas.openxmlformats.org/drawingml/2006/main">
              <a:ext uri="{FF2B5EF4-FFF2-40B4-BE49-F238E27FC236}">
                <a16:creationId xmlns:a16="http://schemas.microsoft.com/office/drawing/2014/main" id="{F4FC2717-B0B1-4388-9BD3-20F7E19494F6}"/>
              </a:ext>
            </a:extLst>
          </p:cNvPr>
          <p:cNvSpPr>
            <a:spLocks xmlns:a="http://schemas.openxmlformats.org/drawingml/2006/main" noGrp="1"/>
          </p:cNvSpPr>
          <p:nvPr/>
        </p:nvSpPr>
        <p:spPr>
          <a:xfrm xmlns:a="http://schemas.openxmlformats.org/drawingml/2006/main">
            <a:off x="1047750" y="36385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42033"/>
                </a:solidFill>
              </a:defRPr>
            </a:pPr>
            <a:r>
              <a:rPr sz="1350" b="1">
                <a:solidFill>
                  <a:srgbClr val="142033"/>
                </a:solidFill>
              </a:rPr>
              <a:t>Clear Y.3172 use case</a:t>
            </a:r>
          </a:p>
        </p:txBody>
      </p:sp>
      <p:sp>
        <p:nvSpPr>
          <p:cNvPr id="20" name="">
            <a:extLst xmlns:a="http://schemas.openxmlformats.org/drawingml/2006/main">
              <a:ext uri="{FF2B5EF4-FFF2-40B4-BE49-F238E27FC236}">
                <a16:creationId xmlns:a16="http://schemas.microsoft.com/office/drawing/2014/main" id="{39CDABAB-8F0B-4A7C-817A-59F3867FF864}"/>
              </a:ext>
            </a:extLst>
          </p:cNvPr>
          <p:cNvSpPr>
            <a:spLocks xmlns:a="http://schemas.openxmlformats.org/drawingml/2006/main" noGrp="1"/>
          </p:cNvSpPr>
          <p:nvPr/>
        </p:nvSpPr>
        <p:spPr>
          <a:xfrm xmlns:a="http://schemas.openxmlformats.org/drawingml/2006/main">
            <a:off x="7334250" y="363855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125" b="1">
                <a:solidFill>
                  <a:srgbClr val="1769E0"/>
                </a:solidFill>
              </a:defRPr>
            </a:pPr>
            <a:r>
              <a:rPr sz="1125" b="1">
                <a:solidFill>
                  <a:srgbClr val="1769E0"/>
                </a:solidFill>
              </a:rPr>
              <a:t>/standards</a:t>
            </a:r>
          </a:p>
        </p:txBody>
      </p:sp>
      <p:sp>
        <p:nvSpPr>
          <p:cNvPr id="21" name="">
            <a:extLst xmlns:a="http://schemas.openxmlformats.org/drawingml/2006/main">
              <a:ext uri="{FF2B5EF4-FFF2-40B4-BE49-F238E27FC236}">
                <a16:creationId xmlns:a16="http://schemas.microsoft.com/office/drawing/2014/main" id="{7FD629D2-349E-4187-A536-D94583A41C65}"/>
              </a:ext>
            </a:extLst>
          </p:cNvPr>
          <p:cNvSpPr>
            <a:spLocks xmlns:a="http://schemas.openxmlformats.org/drawingml/2006/main" noGrp="1"/>
          </p:cNvSpPr>
          <p:nvPr/>
        </p:nvSpPr>
        <p:spPr>
          <a:xfrm xmlns:a="http://schemas.openxmlformats.org/drawingml/2006/main">
            <a:off x="666750" y="4191000"/>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7875D"/>
                </a:solidFill>
              </a:defRPr>
            </a:pPr>
            <a:r>
              <a:rPr sz="1350" b="1">
                <a:solidFill>
                  <a:srgbClr val="17875D"/>
                </a:solidFill>
              </a:rPr>
              <a:t>✓</a:t>
            </a:r>
          </a:p>
        </p:txBody>
      </p:sp>
      <p:sp>
        <p:nvSpPr>
          <p:cNvPr id="22" name="">
            <a:extLst xmlns:a="http://schemas.openxmlformats.org/drawingml/2006/main">
              <a:ext uri="{FF2B5EF4-FFF2-40B4-BE49-F238E27FC236}">
                <a16:creationId xmlns:a16="http://schemas.microsoft.com/office/drawing/2014/main" id="{D68596CA-865B-4FA0-B0D3-CF6FE57C1AA8}"/>
              </a:ext>
            </a:extLst>
          </p:cNvPr>
          <p:cNvSpPr>
            <a:spLocks xmlns:a="http://schemas.openxmlformats.org/drawingml/2006/main" noGrp="1"/>
          </p:cNvSpPr>
          <p:nvPr/>
        </p:nvSpPr>
        <p:spPr>
          <a:xfrm xmlns:a="http://schemas.openxmlformats.org/drawingml/2006/main">
            <a:off x="1047750" y="419100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42033"/>
                </a:solidFill>
              </a:defRPr>
            </a:pPr>
            <a:r>
              <a:rPr sz="1350" b="1">
                <a:solidFill>
                  <a:srgbClr val="142033"/>
                </a:solidFill>
              </a:rPr>
              <a:t>AI Readiness factor mapping</a:t>
            </a:r>
          </a:p>
        </p:txBody>
      </p:sp>
      <p:sp>
        <p:nvSpPr>
          <p:cNvPr id="23" name="">
            <a:extLst xmlns:a="http://schemas.openxmlformats.org/drawingml/2006/main">
              <a:ext uri="{FF2B5EF4-FFF2-40B4-BE49-F238E27FC236}">
                <a16:creationId xmlns:a16="http://schemas.microsoft.com/office/drawing/2014/main" id="{F1E8458B-4D3F-4E87-A208-452E18C211C7}"/>
              </a:ext>
            </a:extLst>
          </p:cNvPr>
          <p:cNvSpPr>
            <a:spLocks xmlns:a="http://schemas.openxmlformats.org/drawingml/2006/main" noGrp="1"/>
          </p:cNvSpPr>
          <p:nvPr/>
        </p:nvSpPr>
        <p:spPr>
          <a:xfrm xmlns:a="http://schemas.openxmlformats.org/drawingml/2006/main">
            <a:off x="7334250" y="419100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125" b="1">
                <a:solidFill>
                  <a:srgbClr val="1769E0"/>
                </a:solidFill>
              </a:defRPr>
            </a:pPr>
            <a:r>
              <a:rPr sz="1125" b="1">
                <a:solidFill>
                  <a:srgbClr val="1769E0"/>
                </a:solidFill>
              </a:rPr>
              <a:t>/standards</a:t>
            </a:r>
          </a:p>
        </p:txBody>
      </p:sp>
      <p:sp>
        <p:nvSpPr>
          <p:cNvPr id="24" name="">
            <a:extLst xmlns:a="http://schemas.openxmlformats.org/drawingml/2006/main">
              <a:ext uri="{FF2B5EF4-FFF2-40B4-BE49-F238E27FC236}">
                <a16:creationId xmlns:a16="http://schemas.microsoft.com/office/drawing/2014/main" id="{59A253AB-9EFA-47B0-A1BC-488E42242D5C}"/>
              </a:ext>
            </a:extLst>
          </p:cNvPr>
          <p:cNvSpPr>
            <a:spLocks xmlns:a="http://schemas.openxmlformats.org/drawingml/2006/main" noGrp="1"/>
          </p:cNvSpPr>
          <p:nvPr/>
        </p:nvSpPr>
        <p:spPr>
          <a:xfrm xmlns:a="http://schemas.openxmlformats.org/drawingml/2006/main">
            <a:off x="666750" y="4743450"/>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7875D"/>
                </a:solidFill>
              </a:defRPr>
            </a:pPr>
            <a:r>
              <a:rPr sz="1350" b="1">
                <a:solidFill>
                  <a:srgbClr val="17875D"/>
                </a:solidFill>
              </a:rPr>
              <a:t>✓</a:t>
            </a:r>
          </a:p>
        </p:txBody>
      </p:sp>
      <p:sp>
        <p:nvSpPr>
          <p:cNvPr id="25" name="">
            <a:extLst xmlns:a="http://schemas.openxmlformats.org/drawingml/2006/main">
              <a:ext uri="{FF2B5EF4-FFF2-40B4-BE49-F238E27FC236}">
                <a16:creationId xmlns:a16="http://schemas.microsoft.com/office/drawing/2014/main" id="{C3F7321D-CE93-4382-ADB9-6DB492598908}"/>
              </a:ext>
            </a:extLst>
          </p:cNvPr>
          <p:cNvSpPr>
            <a:spLocks xmlns:a="http://schemas.openxmlformats.org/drawingml/2006/main" noGrp="1"/>
          </p:cNvSpPr>
          <p:nvPr/>
        </p:nvSpPr>
        <p:spPr>
          <a:xfrm xmlns:a="http://schemas.openxmlformats.org/drawingml/2006/main">
            <a:off x="1047750" y="47434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42033"/>
                </a:solidFill>
              </a:defRPr>
            </a:pPr>
            <a:r>
              <a:rPr sz="1350" b="1">
                <a:solidFill>
                  <a:srgbClr val="142033"/>
                </a:solidFill>
              </a:rPr>
              <a:t>Reusable knowledge contribution</a:t>
            </a:r>
          </a:p>
        </p:txBody>
      </p:sp>
      <p:sp>
        <p:nvSpPr>
          <p:cNvPr id="26" name="">
            <a:extLst xmlns:a="http://schemas.openxmlformats.org/drawingml/2006/main">
              <a:ext uri="{FF2B5EF4-FFF2-40B4-BE49-F238E27FC236}">
                <a16:creationId xmlns:a16="http://schemas.microsoft.com/office/drawing/2014/main" id="{065D626F-F738-4BAB-A2FB-434C2B13D92E}"/>
              </a:ext>
            </a:extLst>
          </p:cNvPr>
          <p:cNvSpPr>
            <a:spLocks xmlns:a="http://schemas.openxmlformats.org/drawingml/2006/main" noGrp="1"/>
          </p:cNvSpPr>
          <p:nvPr/>
        </p:nvSpPr>
        <p:spPr>
          <a:xfrm xmlns:a="http://schemas.openxmlformats.org/drawingml/2006/main">
            <a:off x="7334250" y="474345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125" b="1">
                <a:solidFill>
                  <a:srgbClr val="1769E0"/>
                </a:solidFill>
              </a:defRPr>
            </a:pPr>
            <a:r>
              <a:rPr sz="1125" b="1">
                <a:solidFill>
                  <a:srgbClr val="1769E0"/>
                </a:solidFill>
              </a:rPr>
              <a:t>/knowledge-base</a:t>
            </a:r>
          </a:p>
        </p:txBody>
      </p:sp>
      <p:sp>
        <p:nvSpPr>
          <p:cNvPr id="27" name="">
            <a:extLst xmlns:a="http://schemas.openxmlformats.org/drawingml/2006/main">
              <a:ext uri="{FF2B5EF4-FFF2-40B4-BE49-F238E27FC236}">
                <a16:creationId xmlns:a16="http://schemas.microsoft.com/office/drawing/2014/main" id="{02994EE1-8C28-492C-84A0-2BD05C1E0293}"/>
              </a:ext>
            </a:extLst>
          </p:cNvPr>
          <p:cNvSpPr>
            <a:spLocks xmlns:a="http://schemas.openxmlformats.org/drawingml/2006/main" noGrp="1"/>
          </p:cNvSpPr>
          <p:nvPr/>
        </p:nvSpPr>
        <p:spPr>
          <a:xfrm xmlns:a="http://schemas.openxmlformats.org/drawingml/2006/main">
            <a:off x="666750" y="5295900"/>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7875D"/>
                </a:solidFill>
              </a:defRPr>
            </a:pPr>
            <a:r>
              <a:rPr sz="1350" b="1">
                <a:solidFill>
                  <a:srgbClr val="17875D"/>
                </a:solidFill>
              </a:rPr>
              <a:t>✓</a:t>
            </a:r>
          </a:p>
        </p:txBody>
      </p:sp>
      <p:sp>
        <p:nvSpPr>
          <p:cNvPr id="28" name="">
            <a:extLst xmlns:a="http://schemas.openxmlformats.org/drawingml/2006/main">
              <a:ext uri="{FF2B5EF4-FFF2-40B4-BE49-F238E27FC236}">
                <a16:creationId xmlns:a16="http://schemas.microsoft.com/office/drawing/2014/main" id="{DB047FCF-9FED-47EE-BFF2-BA9383D722DD}"/>
              </a:ext>
            </a:extLst>
          </p:cNvPr>
          <p:cNvSpPr>
            <a:spLocks xmlns:a="http://schemas.openxmlformats.org/drawingml/2006/main" noGrp="1"/>
          </p:cNvSpPr>
          <p:nvPr/>
        </p:nvSpPr>
        <p:spPr>
          <a:xfrm xmlns:a="http://schemas.openxmlformats.org/drawingml/2006/main">
            <a:off x="1047750" y="529590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42033"/>
                </a:solidFill>
              </a:defRPr>
            </a:pPr>
            <a:r>
              <a:rPr sz="1350" b="1">
                <a:solidFill>
                  <a:srgbClr val="142033"/>
                </a:solidFill>
              </a:rPr>
              <a:t>Strategy and policy input</a:t>
            </a:r>
          </a:p>
        </p:txBody>
      </p:sp>
      <p:sp>
        <p:nvSpPr>
          <p:cNvPr id="29" name="">
            <a:extLst xmlns:a="http://schemas.openxmlformats.org/drawingml/2006/main">
              <a:ext uri="{FF2B5EF4-FFF2-40B4-BE49-F238E27FC236}">
                <a16:creationId xmlns:a16="http://schemas.microsoft.com/office/drawing/2014/main" id="{FD2599F5-AE26-4BF0-AE5B-4B5129AD162F}"/>
              </a:ext>
            </a:extLst>
          </p:cNvPr>
          <p:cNvSpPr>
            <a:spLocks xmlns:a="http://schemas.openxmlformats.org/drawingml/2006/main" noGrp="1"/>
          </p:cNvSpPr>
          <p:nvPr/>
        </p:nvSpPr>
        <p:spPr>
          <a:xfrm xmlns:a="http://schemas.openxmlformats.org/drawingml/2006/main">
            <a:off x="7334250" y="529590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125" b="1">
                <a:solidFill>
                  <a:srgbClr val="1769E0"/>
                </a:solidFill>
              </a:defRPr>
            </a:pPr>
            <a:r>
              <a:rPr sz="1125" b="1">
                <a:solidFill>
                  <a:srgbClr val="1769E0"/>
                </a:solidFill>
              </a:rPr>
              <a:t>/standards#policy-gaps</a:t>
            </a:r>
          </a:p>
        </p:txBody>
      </p:sp>
    </p:spTree>
    <p:extLst>
      <p:ext uri="{BB962C8B-B14F-4D97-AF65-F5344CB8AC3E}">
        <p14:creationId xmlns:p14="http://schemas.microsoft.com/office/powerpoint/2010/main" val="11454953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79F91BAB-4947-4BEE-9F25-BAE46CC988D5}"/>
              </a:ext>
            </a:extLst>
          </p:cNvPr>
          <p:cNvSpPr>
            <a:spLocks xmlns:a="http://schemas.openxmlformats.org/drawingml/2006/main" noGrp="1"/>
          </p:cNvSpPr>
          <p:nvPr/>
        </p:nvSpPr>
        <p:spPr>
          <a:xfrm xmlns:a="http://schemas.openxmlformats.org/drawingml/2006/main">
            <a:off x="609600" y="38100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1769E0"/>
                </a:solidFill>
              </a:defRPr>
            </a:pPr>
            <a:r>
              <a:rPr sz="975" b="1">
                <a:solidFill>
                  <a:srgbClr val="1769E0"/>
                </a:solidFill>
              </a:rPr>
              <a:t>05 · READINESS MODEL</a:t>
            </a:r>
          </a:p>
        </p:txBody>
      </p:sp>
      <p:sp>
        <p:nvSpPr>
          <p:cNvPr id="2" name="">
            <a:extLst xmlns:a="http://schemas.openxmlformats.org/drawingml/2006/main">
              <a:ext uri="{FF2B5EF4-FFF2-40B4-BE49-F238E27FC236}">
                <a16:creationId xmlns:a16="http://schemas.microsoft.com/office/drawing/2014/main" id="{F4246B3D-701A-4325-B128-B62172C98967}"/>
              </a:ext>
            </a:extLst>
          </p:cNvPr>
          <p:cNvSpPr>
            <a:spLocks xmlns:a="http://schemas.openxmlformats.org/drawingml/2006/main" noGrp="1"/>
          </p:cNvSpPr>
          <p:nvPr/>
        </p:nvSpPr>
        <p:spPr>
          <a:xfrm xmlns:a="http://schemas.openxmlformats.org/drawingml/2006/main">
            <a:off x="609600" y="74295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B1F3A"/>
                </a:solidFill>
              </a:defRPr>
            </a:pPr>
            <a:r>
              <a:rPr sz="2700" b="1">
                <a:solidFill>
                  <a:srgbClr val="0B1F3A"/>
                </a:solidFill>
              </a:rPr>
              <a:t>Thirteen dimensions; evidence before confidence</a:t>
            </a:r>
          </a:p>
        </p:txBody>
      </p:sp>
      <p:sp>
        <p:nvSpPr>
          <p:cNvPr id="3" name="">
            <a:extLst xmlns:a="http://schemas.openxmlformats.org/drawingml/2006/main">
              <a:ext uri="{FF2B5EF4-FFF2-40B4-BE49-F238E27FC236}">
                <a16:creationId xmlns:a16="http://schemas.microsoft.com/office/drawing/2014/main" id="{3981127B-4AD8-44AF-AAD5-B8E4AC092615}"/>
              </a:ext>
            </a:extLst>
          </p:cNvPr>
          <p:cNvSpPr>
            <a:spLocks xmlns:a="http://schemas.openxmlformats.org/drawingml/2006/main" noGrp="1"/>
          </p:cNvSpPr>
          <p:nvPr/>
        </p:nvSpPr>
        <p:spPr>
          <a:xfrm xmlns:a="http://schemas.openxmlformats.org/drawingml/2006/main">
            <a:off x="11182350" y="40005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F6B7A"/>
                </a:solidFill>
              </a:defRPr>
            </a:pPr>
            <a:r>
              <a:rPr sz="900" b="1">
                <a:solidFill>
                  <a:srgbClr val="5F6B7A"/>
                </a:solidFill>
              </a:rPr>
              <a:t>06</a:t>
            </a:r>
          </a:p>
        </p:txBody>
      </p:sp>
      <p:sp>
        <p:nvSpPr>
          <p:cNvPr id="4" name="">
            <a:extLst xmlns:a="http://schemas.openxmlformats.org/drawingml/2006/main">
              <a:ext uri="{FF2B5EF4-FFF2-40B4-BE49-F238E27FC236}">
                <a16:creationId xmlns:a16="http://schemas.microsoft.com/office/drawing/2014/main" id="{72A9265B-CFAF-4EB3-A809-6B5A60BAF7DF}"/>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1EC"/>
            </a:solidFill>
            <a:prstDash val="solid"/>
          </a:ln>
        </p:spPr>
      </p:sp>
      <p:sp>
        <p:nvSpPr>
          <p:cNvPr id="5" name="">
            <a:extLst xmlns:a="http://schemas.openxmlformats.org/drawingml/2006/main">
              <a:ext uri="{FF2B5EF4-FFF2-40B4-BE49-F238E27FC236}">
                <a16:creationId xmlns:a16="http://schemas.microsoft.com/office/drawing/2014/main" id="{FC7EF951-9C53-4FB4-AE60-C14977A88262}"/>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6B7A"/>
                </a:solidFill>
              </a:defRPr>
            </a:pPr>
            <a:r>
              <a:rPr sz="750" b="1">
                <a:solidFill>
                  <a:srgbClr val="5F6B7A"/>
                </a:solidFill>
              </a:rPr>
              <a:t>FURSAH · AI-POWERED WORKFORCE READINESS</a:t>
            </a:r>
          </a:p>
        </p:txBody>
      </p:sp>
      <p:sp>
        <p:nvSpPr>
          <p:cNvPr id="6" name="">
            <a:extLst xmlns:a="http://schemas.openxmlformats.org/drawingml/2006/main">
              <a:ext uri="{FF2B5EF4-FFF2-40B4-BE49-F238E27FC236}">
                <a16:creationId xmlns:a16="http://schemas.microsoft.com/office/drawing/2014/main" id="{91C1CE03-29AD-4C5C-BE10-CA61CF9AEAF0}"/>
              </a:ext>
            </a:extLst>
          </p:cNvPr>
          <p:cNvSpPr>
            <a:spLocks xmlns:a="http://schemas.openxmlformats.org/drawingml/2006/main" noGrp="1"/>
          </p:cNvSpPr>
          <p:nvPr/>
        </p:nvSpPr>
        <p:spPr>
          <a:xfrm xmlns:a="http://schemas.openxmlformats.org/drawingml/2006/main">
            <a:off x="609600" y="1676400"/>
            <a:ext cx="2362200" cy="533400"/>
          </a:xfrm>
          <a:prstGeom xmlns:a="http://schemas.openxmlformats.org/drawingml/2006/main" prst="roundRect">
            <a:avLst>
              <a:gd name="adj" fmla="val 14286"/>
            </a:avLst>
          </a:prstGeom>
          <a:solidFill xmlns:a="http://schemas.openxmlformats.org/drawingml/2006/main">
            <a:srgbClr val="EAF2FF"/>
          </a:solidFill>
          <a:ln xmlns:a="http://schemas.openxmlformats.org/drawingml/2006/main" w="9525">
            <a:solidFill>
              <a:srgbClr val="D8E1EC"/>
            </a:solidFill>
            <a:prstDash val="solid"/>
          </a:ln>
        </p:spPr>
      </p:sp>
      <p:sp>
        <p:nvSpPr>
          <p:cNvPr id="7" name="">
            <a:extLst xmlns:a="http://schemas.openxmlformats.org/drawingml/2006/main">
              <a:ext uri="{FF2B5EF4-FFF2-40B4-BE49-F238E27FC236}">
                <a16:creationId xmlns:a16="http://schemas.microsoft.com/office/drawing/2014/main" id="{77F228A1-5923-49F6-AD00-0F255536CE74}"/>
              </a:ext>
            </a:extLst>
          </p:cNvPr>
          <p:cNvSpPr>
            <a:spLocks xmlns:a="http://schemas.openxmlformats.org/drawingml/2006/main" noGrp="1"/>
          </p:cNvSpPr>
          <p:nvPr/>
        </p:nvSpPr>
        <p:spPr>
          <a:xfrm xmlns:a="http://schemas.openxmlformats.org/drawingml/2006/main">
            <a:off x="762000" y="1771650"/>
            <a:ext cx="205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1F3A"/>
                </a:solidFill>
              </a:defRPr>
            </a:pPr>
            <a:r>
              <a:rPr sz="1275" b="1">
                <a:solidFill>
                  <a:srgbClr val="0B1F3A"/>
                </a:solidFill>
              </a:rPr>
              <a:t>Connectivity</a:t>
            </a:r>
          </a:p>
        </p:txBody>
      </p:sp>
      <p:sp>
        <p:nvSpPr>
          <p:cNvPr id="8" name="">
            <a:extLst xmlns:a="http://schemas.openxmlformats.org/drawingml/2006/main">
              <a:ext uri="{FF2B5EF4-FFF2-40B4-BE49-F238E27FC236}">
                <a16:creationId xmlns:a16="http://schemas.microsoft.com/office/drawing/2014/main" id="{FB78F3A7-E56C-4E3A-8C00-FDD9EFC37D5D}"/>
              </a:ext>
            </a:extLst>
          </p:cNvPr>
          <p:cNvSpPr>
            <a:spLocks xmlns:a="http://schemas.openxmlformats.org/drawingml/2006/main" noGrp="1"/>
          </p:cNvSpPr>
          <p:nvPr/>
        </p:nvSpPr>
        <p:spPr>
          <a:xfrm xmlns:a="http://schemas.openxmlformats.org/drawingml/2006/main">
            <a:off x="3257550" y="1676400"/>
            <a:ext cx="2362200" cy="533400"/>
          </a:xfrm>
          <a:prstGeom xmlns:a="http://schemas.openxmlformats.org/drawingml/2006/main" prst="roundRect">
            <a:avLst>
              <a:gd name="adj" fmla="val 14286"/>
            </a:avLst>
          </a:prstGeom>
          <a:solidFill xmlns:a="http://schemas.openxmlformats.org/drawingml/2006/main">
            <a:srgbClr val="EAF2FF"/>
          </a:solidFill>
          <a:ln xmlns:a="http://schemas.openxmlformats.org/drawingml/2006/main" w="9525">
            <a:solidFill>
              <a:srgbClr val="D8E1EC"/>
            </a:solidFill>
            <a:prstDash val="solid"/>
          </a:ln>
        </p:spPr>
      </p:sp>
      <p:sp>
        <p:nvSpPr>
          <p:cNvPr id="9" name="">
            <a:extLst xmlns:a="http://schemas.openxmlformats.org/drawingml/2006/main">
              <a:ext uri="{FF2B5EF4-FFF2-40B4-BE49-F238E27FC236}">
                <a16:creationId xmlns:a16="http://schemas.microsoft.com/office/drawing/2014/main" id="{3821218B-DE81-4C46-BD3E-5605F5821BAC}"/>
              </a:ext>
            </a:extLst>
          </p:cNvPr>
          <p:cNvSpPr>
            <a:spLocks xmlns:a="http://schemas.openxmlformats.org/drawingml/2006/main" noGrp="1"/>
          </p:cNvSpPr>
          <p:nvPr/>
        </p:nvSpPr>
        <p:spPr>
          <a:xfrm xmlns:a="http://schemas.openxmlformats.org/drawingml/2006/main">
            <a:off x="3409950" y="1771650"/>
            <a:ext cx="205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1F3A"/>
                </a:solidFill>
              </a:defRPr>
            </a:pPr>
            <a:r>
              <a:rPr sz="1275" b="1">
                <a:solidFill>
                  <a:srgbClr val="0B1F3A"/>
                </a:solidFill>
              </a:rPr>
              <a:t>Compute</a:t>
            </a:r>
          </a:p>
        </p:txBody>
      </p:sp>
      <p:sp>
        <p:nvSpPr>
          <p:cNvPr id="10" name="">
            <a:extLst xmlns:a="http://schemas.openxmlformats.org/drawingml/2006/main">
              <a:ext uri="{FF2B5EF4-FFF2-40B4-BE49-F238E27FC236}">
                <a16:creationId xmlns:a16="http://schemas.microsoft.com/office/drawing/2014/main" id="{019688DF-52E3-4D10-A6CE-AA1F74643F90}"/>
              </a:ext>
            </a:extLst>
          </p:cNvPr>
          <p:cNvSpPr>
            <a:spLocks xmlns:a="http://schemas.openxmlformats.org/drawingml/2006/main" noGrp="1"/>
          </p:cNvSpPr>
          <p:nvPr/>
        </p:nvSpPr>
        <p:spPr>
          <a:xfrm xmlns:a="http://schemas.openxmlformats.org/drawingml/2006/main">
            <a:off x="5905500" y="1676400"/>
            <a:ext cx="2362200" cy="533400"/>
          </a:xfrm>
          <a:prstGeom xmlns:a="http://schemas.openxmlformats.org/drawingml/2006/main" prst="roundRect">
            <a:avLst>
              <a:gd name="adj" fmla="val 14286"/>
            </a:avLst>
          </a:prstGeom>
          <a:solidFill xmlns:a="http://schemas.openxmlformats.org/drawingml/2006/main">
            <a:srgbClr val="EAF2FF"/>
          </a:solidFill>
          <a:ln xmlns:a="http://schemas.openxmlformats.org/drawingml/2006/main" w="9525">
            <a:solidFill>
              <a:srgbClr val="D8E1EC"/>
            </a:solidFill>
            <a:prstDash val="solid"/>
          </a:ln>
        </p:spPr>
      </p:sp>
      <p:sp>
        <p:nvSpPr>
          <p:cNvPr id="11" name="">
            <a:extLst xmlns:a="http://schemas.openxmlformats.org/drawingml/2006/main">
              <a:ext uri="{FF2B5EF4-FFF2-40B4-BE49-F238E27FC236}">
                <a16:creationId xmlns:a16="http://schemas.microsoft.com/office/drawing/2014/main" id="{FE4D44AB-A906-4288-A2A0-3F44B1730AAA}"/>
              </a:ext>
            </a:extLst>
          </p:cNvPr>
          <p:cNvSpPr>
            <a:spLocks xmlns:a="http://schemas.openxmlformats.org/drawingml/2006/main" noGrp="1"/>
          </p:cNvSpPr>
          <p:nvPr/>
        </p:nvSpPr>
        <p:spPr>
          <a:xfrm xmlns:a="http://schemas.openxmlformats.org/drawingml/2006/main">
            <a:off x="6057900" y="1771650"/>
            <a:ext cx="205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1F3A"/>
                </a:solidFill>
              </a:defRPr>
            </a:pPr>
            <a:r>
              <a:rPr sz="1275" b="1">
                <a:solidFill>
                  <a:srgbClr val="0B1F3A"/>
                </a:solidFill>
              </a:rPr>
              <a:t>Data</a:t>
            </a:r>
          </a:p>
        </p:txBody>
      </p:sp>
      <p:sp>
        <p:nvSpPr>
          <p:cNvPr id="12" name="">
            <a:extLst xmlns:a="http://schemas.openxmlformats.org/drawingml/2006/main">
              <a:ext uri="{FF2B5EF4-FFF2-40B4-BE49-F238E27FC236}">
                <a16:creationId xmlns:a16="http://schemas.microsoft.com/office/drawing/2014/main" id="{D8E8D9D7-3CD8-45C1-BDAA-309BB28414AD}"/>
              </a:ext>
            </a:extLst>
          </p:cNvPr>
          <p:cNvSpPr>
            <a:spLocks xmlns:a="http://schemas.openxmlformats.org/drawingml/2006/main" noGrp="1"/>
          </p:cNvSpPr>
          <p:nvPr/>
        </p:nvSpPr>
        <p:spPr>
          <a:xfrm xmlns:a="http://schemas.openxmlformats.org/drawingml/2006/main">
            <a:off x="8553450" y="1676400"/>
            <a:ext cx="2362200" cy="533400"/>
          </a:xfrm>
          <a:prstGeom xmlns:a="http://schemas.openxmlformats.org/drawingml/2006/main" prst="roundRect">
            <a:avLst>
              <a:gd name="adj" fmla="val 14286"/>
            </a:avLst>
          </a:prstGeom>
          <a:solidFill xmlns:a="http://schemas.openxmlformats.org/drawingml/2006/main">
            <a:srgbClr val="EAF2FF"/>
          </a:solidFill>
          <a:ln xmlns:a="http://schemas.openxmlformats.org/drawingml/2006/main" w="9525">
            <a:solidFill>
              <a:srgbClr val="D8E1EC"/>
            </a:solidFill>
            <a:prstDash val="solid"/>
          </a:ln>
        </p:spPr>
      </p:sp>
      <p:sp>
        <p:nvSpPr>
          <p:cNvPr id="13" name="">
            <a:extLst xmlns:a="http://schemas.openxmlformats.org/drawingml/2006/main">
              <a:ext uri="{FF2B5EF4-FFF2-40B4-BE49-F238E27FC236}">
                <a16:creationId xmlns:a16="http://schemas.microsoft.com/office/drawing/2014/main" id="{9F63B3ED-B474-4231-AB13-F4E5FA82CF68}"/>
              </a:ext>
            </a:extLst>
          </p:cNvPr>
          <p:cNvSpPr>
            <a:spLocks xmlns:a="http://schemas.openxmlformats.org/drawingml/2006/main" noGrp="1"/>
          </p:cNvSpPr>
          <p:nvPr/>
        </p:nvSpPr>
        <p:spPr>
          <a:xfrm xmlns:a="http://schemas.openxmlformats.org/drawingml/2006/main">
            <a:off x="8705850" y="1771650"/>
            <a:ext cx="205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1F3A"/>
                </a:solidFill>
              </a:defRPr>
            </a:pPr>
            <a:r>
              <a:rPr sz="1275" b="1">
                <a:solidFill>
                  <a:srgbClr val="0B1F3A"/>
                </a:solidFill>
              </a:rPr>
              <a:t>Governance</a:t>
            </a:r>
          </a:p>
        </p:txBody>
      </p:sp>
      <p:sp>
        <p:nvSpPr>
          <p:cNvPr id="14" name="">
            <a:extLst xmlns:a="http://schemas.openxmlformats.org/drawingml/2006/main">
              <a:ext uri="{FF2B5EF4-FFF2-40B4-BE49-F238E27FC236}">
                <a16:creationId xmlns:a16="http://schemas.microsoft.com/office/drawing/2014/main" id="{BD98329D-BCD3-4281-9674-EA7EF0C01FF7}"/>
              </a:ext>
            </a:extLst>
          </p:cNvPr>
          <p:cNvSpPr>
            <a:spLocks xmlns:a="http://schemas.openxmlformats.org/drawingml/2006/main" noGrp="1"/>
          </p:cNvSpPr>
          <p:nvPr/>
        </p:nvSpPr>
        <p:spPr>
          <a:xfrm xmlns:a="http://schemas.openxmlformats.org/drawingml/2006/main">
            <a:off x="609600" y="2400300"/>
            <a:ext cx="2362200"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8E1EC"/>
            </a:solidFill>
            <a:prstDash val="solid"/>
          </a:ln>
        </p:spPr>
      </p:sp>
      <p:sp>
        <p:nvSpPr>
          <p:cNvPr id="15" name="">
            <a:extLst xmlns:a="http://schemas.openxmlformats.org/drawingml/2006/main">
              <a:ext uri="{FF2B5EF4-FFF2-40B4-BE49-F238E27FC236}">
                <a16:creationId xmlns:a16="http://schemas.microsoft.com/office/drawing/2014/main" id="{ABA67864-5CAC-4AE3-A88B-12E36CA566DB}"/>
              </a:ext>
            </a:extLst>
          </p:cNvPr>
          <p:cNvSpPr>
            <a:spLocks xmlns:a="http://schemas.openxmlformats.org/drawingml/2006/main" noGrp="1"/>
          </p:cNvSpPr>
          <p:nvPr/>
        </p:nvSpPr>
        <p:spPr>
          <a:xfrm xmlns:a="http://schemas.openxmlformats.org/drawingml/2006/main">
            <a:off x="762000" y="2495550"/>
            <a:ext cx="205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1F3A"/>
                </a:solidFill>
              </a:defRPr>
            </a:pPr>
            <a:r>
              <a:rPr sz="1275" b="1">
                <a:solidFill>
                  <a:srgbClr val="0B1F3A"/>
                </a:solidFill>
              </a:rPr>
              <a:t>Security</a:t>
            </a:r>
          </a:p>
        </p:txBody>
      </p:sp>
      <p:sp>
        <p:nvSpPr>
          <p:cNvPr id="16" name="">
            <a:extLst xmlns:a="http://schemas.openxmlformats.org/drawingml/2006/main">
              <a:ext uri="{FF2B5EF4-FFF2-40B4-BE49-F238E27FC236}">
                <a16:creationId xmlns:a16="http://schemas.microsoft.com/office/drawing/2014/main" id="{E2646382-8B9A-48A2-8736-8D07DFF52B31}"/>
              </a:ext>
            </a:extLst>
          </p:cNvPr>
          <p:cNvSpPr>
            <a:spLocks xmlns:a="http://schemas.openxmlformats.org/drawingml/2006/main" noGrp="1"/>
          </p:cNvSpPr>
          <p:nvPr/>
        </p:nvSpPr>
        <p:spPr>
          <a:xfrm xmlns:a="http://schemas.openxmlformats.org/drawingml/2006/main">
            <a:off x="3257550" y="2400300"/>
            <a:ext cx="2362200"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8E1EC"/>
            </a:solidFill>
            <a:prstDash val="solid"/>
          </a:ln>
        </p:spPr>
      </p:sp>
      <p:sp>
        <p:nvSpPr>
          <p:cNvPr id="17" name="">
            <a:extLst xmlns:a="http://schemas.openxmlformats.org/drawingml/2006/main">
              <a:ext uri="{FF2B5EF4-FFF2-40B4-BE49-F238E27FC236}">
                <a16:creationId xmlns:a16="http://schemas.microsoft.com/office/drawing/2014/main" id="{C2550B41-3094-4FD5-9766-9BECCA3B9D34}"/>
              </a:ext>
            </a:extLst>
          </p:cNvPr>
          <p:cNvSpPr>
            <a:spLocks xmlns:a="http://schemas.openxmlformats.org/drawingml/2006/main" noGrp="1"/>
          </p:cNvSpPr>
          <p:nvPr/>
        </p:nvSpPr>
        <p:spPr>
          <a:xfrm xmlns:a="http://schemas.openxmlformats.org/drawingml/2006/main">
            <a:off x="3409950" y="2495550"/>
            <a:ext cx="205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1F3A"/>
                </a:solidFill>
              </a:defRPr>
            </a:pPr>
            <a:r>
              <a:rPr sz="1275" b="1">
                <a:solidFill>
                  <a:srgbClr val="0B1F3A"/>
                </a:solidFill>
              </a:rPr>
              <a:t>Talent</a:t>
            </a:r>
          </a:p>
        </p:txBody>
      </p:sp>
      <p:sp>
        <p:nvSpPr>
          <p:cNvPr id="18" name="">
            <a:extLst xmlns:a="http://schemas.openxmlformats.org/drawingml/2006/main">
              <a:ext uri="{FF2B5EF4-FFF2-40B4-BE49-F238E27FC236}">
                <a16:creationId xmlns:a16="http://schemas.microsoft.com/office/drawing/2014/main" id="{76F42EF8-0B91-4985-A8D8-BB5016B6ACA2}"/>
              </a:ext>
            </a:extLst>
          </p:cNvPr>
          <p:cNvSpPr>
            <a:spLocks xmlns:a="http://schemas.openxmlformats.org/drawingml/2006/main" noGrp="1"/>
          </p:cNvSpPr>
          <p:nvPr/>
        </p:nvSpPr>
        <p:spPr>
          <a:xfrm xmlns:a="http://schemas.openxmlformats.org/drawingml/2006/main">
            <a:off x="5905500" y="2400300"/>
            <a:ext cx="2362200"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8E1EC"/>
            </a:solidFill>
            <a:prstDash val="solid"/>
          </a:ln>
        </p:spPr>
      </p:sp>
      <p:sp>
        <p:nvSpPr>
          <p:cNvPr id="19" name="">
            <a:extLst xmlns:a="http://schemas.openxmlformats.org/drawingml/2006/main">
              <a:ext uri="{FF2B5EF4-FFF2-40B4-BE49-F238E27FC236}">
                <a16:creationId xmlns:a16="http://schemas.microsoft.com/office/drawing/2014/main" id="{D1CA82AA-0A3E-4E18-82FD-EF4327EE871C}"/>
              </a:ext>
            </a:extLst>
          </p:cNvPr>
          <p:cNvSpPr>
            <a:spLocks xmlns:a="http://schemas.openxmlformats.org/drawingml/2006/main" noGrp="1"/>
          </p:cNvSpPr>
          <p:nvPr/>
        </p:nvSpPr>
        <p:spPr>
          <a:xfrm xmlns:a="http://schemas.openxmlformats.org/drawingml/2006/main">
            <a:off x="6057900" y="2495550"/>
            <a:ext cx="205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1F3A"/>
                </a:solidFill>
              </a:defRPr>
            </a:pPr>
            <a:r>
              <a:rPr sz="1275" b="1">
                <a:solidFill>
                  <a:srgbClr val="0B1F3A"/>
                </a:solidFill>
              </a:rPr>
              <a:t>Skills</a:t>
            </a:r>
          </a:p>
        </p:txBody>
      </p:sp>
      <p:sp>
        <p:nvSpPr>
          <p:cNvPr id="20" name="">
            <a:extLst xmlns:a="http://schemas.openxmlformats.org/drawingml/2006/main">
              <a:ext uri="{FF2B5EF4-FFF2-40B4-BE49-F238E27FC236}">
                <a16:creationId xmlns:a16="http://schemas.microsoft.com/office/drawing/2014/main" id="{C8AA84F4-6B4A-48F6-8967-04F7710BE2EB}"/>
              </a:ext>
            </a:extLst>
          </p:cNvPr>
          <p:cNvSpPr>
            <a:spLocks xmlns:a="http://schemas.openxmlformats.org/drawingml/2006/main" noGrp="1"/>
          </p:cNvSpPr>
          <p:nvPr/>
        </p:nvSpPr>
        <p:spPr>
          <a:xfrm xmlns:a="http://schemas.openxmlformats.org/drawingml/2006/main">
            <a:off x="8553450" y="2400300"/>
            <a:ext cx="2362200"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8E1EC"/>
            </a:solidFill>
            <a:prstDash val="solid"/>
          </a:ln>
        </p:spPr>
      </p:sp>
      <p:sp>
        <p:nvSpPr>
          <p:cNvPr id="21" name="">
            <a:extLst xmlns:a="http://schemas.openxmlformats.org/drawingml/2006/main">
              <a:ext uri="{FF2B5EF4-FFF2-40B4-BE49-F238E27FC236}">
                <a16:creationId xmlns:a16="http://schemas.microsoft.com/office/drawing/2014/main" id="{D3F60F4F-25AB-4FEC-8CCD-DE87F7A2ECD3}"/>
              </a:ext>
            </a:extLst>
          </p:cNvPr>
          <p:cNvSpPr>
            <a:spLocks xmlns:a="http://schemas.openxmlformats.org/drawingml/2006/main" noGrp="1"/>
          </p:cNvSpPr>
          <p:nvPr/>
        </p:nvSpPr>
        <p:spPr>
          <a:xfrm xmlns:a="http://schemas.openxmlformats.org/drawingml/2006/main">
            <a:off x="8705850" y="2495550"/>
            <a:ext cx="205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1F3A"/>
                </a:solidFill>
              </a:defRPr>
            </a:pPr>
            <a:r>
              <a:rPr sz="1275" b="1">
                <a:solidFill>
                  <a:srgbClr val="0B1F3A"/>
                </a:solidFill>
              </a:rPr>
              <a:t>Research</a:t>
            </a:r>
          </a:p>
        </p:txBody>
      </p:sp>
      <p:sp>
        <p:nvSpPr>
          <p:cNvPr id="22" name="">
            <a:extLst xmlns:a="http://schemas.openxmlformats.org/drawingml/2006/main">
              <a:ext uri="{FF2B5EF4-FFF2-40B4-BE49-F238E27FC236}">
                <a16:creationId xmlns:a16="http://schemas.microsoft.com/office/drawing/2014/main" id="{4EA4F9DD-74D0-4A54-9CF5-65771C0347C9}"/>
              </a:ext>
            </a:extLst>
          </p:cNvPr>
          <p:cNvSpPr>
            <a:spLocks xmlns:a="http://schemas.openxmlformats.org/drawingml/2006/main" noGrp="1"/>
          </p:cNvSpPr>
          <p:nvPr/>
        </p:nvSpPr>
        <p:spPr>
          <a:xfrm xmlns:a="http://schemas.openxmlformats.org/drawingml/2006/main">
            <a:off x="609600" y="3124200"/>
            <a:ext cx="2362200"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8E1EC"/>
            </a:solidFill>
            <a:prstDash val="solid"/>
          </a:ln>
        </p:spPr>
      </p:sp>
      <p:sp>
        <p:nvSpPr>
          <p:cNvPr id="23" name="">
            <a:extLst xmlns:a="http://schemas.openxmlformats.org/drawingml/2006/main">
              <a:ext uri="{FF2B5EF4-FFF2-40B4-BE49-F238E27FC236}">
                <a16:creationId xmlns:a16="http://schemas.microsoft.com/office/drawing/2014/main" id="{A82B47F3-CF7C-4D19-B75F-C978451534D2}"/>
              </a:ext>
            </a:extLst>
          </p:cNvPr>
          <p:cNvSpPr>
            <a:spLocks xmlns:a="http://schemas.openxmlformats.org/drawingml/2006/main" noGrp="1"/>
          </p:cNvSpPr>
          <p:nvPr/>
        </p:nvSpPr>
        <p:spPr>
          <a:xfrm xmlns:a="http://schemas.openxmlformats.org/drawingml/2006/main">
            <a:off x="762000" y="3219450"/>
            <a:ext cx="205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1F3A"/>
                </a:solidFill>
              </a:defRPr>
            </a:pPr>
            <a:r>
              <a:rPr sz="1275" b="1">
                <a:solidFill>
                  <a:srgbClr val="0B1F3A"/>
                </a:solidFill>
              </a:rPr>
              <a:t>Innovation</a:t>
            </a:r>
          </a:p>
        </p:txBody>
      </p:sp>
      <p:sp>
        <p:nvSpPr>
          <p:cNvPr id="24" name="">
            <a:extLst xmlns:a="http://schemas.openxmlformats.org/drawingml/2006/main">
              <a:ext uri="{FF2B5EF4-FFF2-40B4-BE49-F238E27FC236}">
                <a16:creationId xmlns:a16="http://schemas.microsoft.com/office/drawing/2014/main" id="{1D288458-3AFC-4887-841E-AF70C33857FC}"/>
              </a:ext>
            </a:extLst>
          </p:cNvPr>
          <p:cNvSpPr>
            <a:spLocks xmlns:a="http://schemas.openxmlformats.org/drawingml/2006/main" noGrp="1"/>
          </p:cNvSpPr>
          <p:nvPr/>
        </p:nvSpPr>
        <p:spPr>
          <a:xfrm xmlns:a="http://schemas.openxmlformats.org/drawingml/2006/main">
            <a:off x="3257550" y="3124200"/>
            <a:ext cx="2362200"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8E1EC"/>
            </a:solidFill>
            <a:prstDash val="solid"/>
          </a:ln>
        </p:spPr>
      </p:sp>
      <p:sp>
        <p:nvSpPr>
          <p:cNvPr id="25" name="">
            <a:extLst xmlns:a="http://schemas.openxmlformats.org/drawingml/2006/main">
              <a:ext uri="{FF2B5EF4-FFF2-40B4-BE49-F238E27FC236}">
                <a16:creationId xmlns:a16="http://schemas.microsoft.com/office/drawing/2014/main" id="{6B11FD15-A9BC-42BB-A6A2-46E7EEA152D1}"/>
              </a:ext>
            </a:extLst>
          </p:cNvPr>
          <p:cNvSpPr>
            <a:spLocks xmlns:a="http://schemas.openxmlformats.org/drawingml/2006/main" noGrp="1"/>
          </p:cNvSpPr>
          <p:nvPr/>
        </p:nvSpPr>
        <p:spPr>
          <a:xfrm xmlns:a="http://schemas.openxmlformats.org/drawingml/2006/main">
            <a:off x="3409950" y="3219450"/>
            <a:ext cx="205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1F3A"/>
                </a:solidFill>
              </a:defRPr>
            </a:pPr>
            <a:r>
              <a:rPr sz="1275" b="1">
                <a:solidFill>
                  <a:srgbClr val="0B1F3A"/>
                </a:solidFill>
              </a:rPr>
              <a:t>Adoption</a:t>
            </a:r>
          </a:p>
        </p:txBody>
      </p:sp>
      <p:sp>
        <p:nvSpPr>
          <p:cNvPr id="26" name="">
            <a:extLst xmlns:a="http://schemas.openxmlformats.org/drawingml/2006/main">
              <a:ext uri="{FF2B5EF4-FFF2-40B4-BE49-F238E27FC236}">
                <a16:creationId xmlns:a16="http://schemas.microsoft.com/office/drawing/2014/main" id="{79BEE4E7-671D-408C-AEAE-D52CCB74C7B7}"/>
              </a:ext>
            </a:extLst>
          </p:cNvPr>
          <p:cNvSpPr>
            <a:spLocks xmlns:a="http://schemas.openxmlformats.org/drawingml/2006/main" noGrp="1"/>
          </p:cNvSpPr>
          <p:nvPr/>
        </p:nvSpPr>
        <p:spPr>
          <a:xfrm xmlns:a="http://schemas.openxmlformats.org/drawingml/2006/main">
            <a:off x="5905500" y="3124200"/>
            <a:ext cx="2362200"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8E1EC"/>
            </a:solidFill>
            <a:prstDash val="solid"/>
          </a:ln>
        </p:spPr>
      </p:sp>
      <p:sp>
        <p:nvSpPr>
          <p:cNvPr id="27" name="">
            <a:extLst xmlns:a="http://schemas.openxmlformats.org/drawingml/2006/main">
              <a:ext uri="{FF2B5EF4-FFF2-40B4-BE49-F238E27FC236}">
                <a16:creationId xmlns:a16="http://schemas.microsoft.com/office/drawing/2014/main" id="{7C299982-1E0E-46C0-9E5A-D00F81BC676F}"/>
              </a:ext>
            </a:extLst>
          </p:cNvPr>
          <p:cNvSpPr>
            <a:spLocks xmlns:a="http://schemas.openxmlformats.org/drawingml/2006/main" noGrp="1"/>
          </p:cNvSpPr>
          <p:nvPr/>
        </p:nvSpPr>
        <p:spPr>
          <a:xfrm xmlns:a="http://schemas.openxmlformats.org/drawingml/2006/main">
            <a:off x="6057900" y="3219450"/>
            <a:ext cx="205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1F3A"/>
                </a:solidFill>
              </a:defRPr>
            </a:pPr>
            <a:r>
              <a:rPr sz="1275" b="1">
                <a:solidFill>
                  <a:srgbClr val="0B1F3A"/>
                </a:solidFill>
              </a:rPr>
              <a:t>Investment</a:t>
            </a:r>
          </a:p>
        </p:txBody>
      </p:sp>
      <p:sp>
        <p:nvSpPr>
          <p:cNvPr id="28" name="">
            <a:extLst xmlns:a="http://schemas.openxmlformats.org/drawingml/2006/main">
              <a:ext uri="{FF2B5EF4-FFF2-40B4-BE49-F238E27FC236}">
                <a16:creationId xmlns:a16="http://schemas.microsoft.com/office/drawing/2014/main" id="{B51AC880-722D-4372-B5F1-CB581CC79B9D}"/>
              </a:ext>
            </a:extLst>
          </p:cNvPr>
          <p:cNvSpPr>
            <a:spLocks xmlns:a="http://schemas.openxmlformats.org/drawingml/2006/main" noGrp="1"/>
          </p:cNvSpPr>
          <p:nvPr/>
        </p:nvSpPr>
        <p:spPr>
          <a:xfrm xmlns:a="http://schemas.openxmlformats.org/drawingml/2006/main">
            <a:off x="8553450" y="3124200"/>
            <a:ext cx="2362200"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8E1EC"/>
            </a:solidFill>
            <a:prstDash val="solid"/>
          </a:ln>
        </p:spPr>
      </p:sp>
      <p:sp>
        <p:nvSpPr>
          <p:cNvPr id="29" name="">
            <a:extLst xmlns:a="http://schemas.openxmlformats.org/drawingml/2006/main">
              <a:ext uri="{FF2B5EF4-FFF2-40B4-BE49-F238E27FC236}">
                <a16:creationId xmlns:a16="http://schemas.microsoft.com/office/drawing/2014/main" id="{6C524669-2781-4E83-891B-A4E0FE0DBB6C}"/>
              </a:ext>
            </a:extLst>
          </p:cNvPr>
          <p:cNvSpPr>
            <a:spLocks xmlns:a="http://schemas.openxmlformats.org/drawingml/2006/main" noGrp="1"/>
          </p:cNvSpPr>
          <p:nvPr/>
        </p:nvSpPr>
        <p:spPr>
          <a:xfrm xmlns:a="http://schemas.openxmlformats.org/drawingml/2006/main">
            <a:off x="8705850" y="3219450"/>
            <a:ext cx="205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1F3A"/>
                </a:solidFill>
              </a:defRPr>
            </a:pPr>
            <a:r>
              <a:rPr sz="1275" b="1">
                <a:solidFill>
                  <a:srgbClr val="0B1F3A"/>
                </a:solidFill>
              </a:rPr>
              <a:t>Inclusion</a:t>
            </a:r>
          </a:p>
        </p:txBody>
      </p:sp>
      <p:sp>
        <p:nvSpPr>
          <p:cNvPr id="30" name="">
            <a:extLst xmlns:a="http://schemas.openxmlformats.org/drawingml/2006/main">
              <a:ext uri="{FF2B5EF4-FFF2-40B4-BE49-F238E27FC236}">
                <a16:creationId xmlns:a16="http://schemas.microsoft.com/office/drawing/2014/main" id="{EDA7CA6C-3183-436E-BEE8-E3BEAC8756D8}"/>
              </a:ext>
            </a:extLst>
          </p:cNvPr>
          <p:cNvSpPr>
            <a:spLocks xmlns:a="http://schemas.openxmlformats.org/drawingml/2006/main" noGrp="1"/>
          </p:cNvSpPr>
          <p:nvPr/>
        </p:nvSpPr>
        <p:spPr>
          <a:xfrm xmlns:a="http://schemas.openxmlformats.org/drawingml/2006/main">
            <a:off x="609600" y="3848100"/>
            <a:ext cx="2362200"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8E1EC"/>
            </a:solidFill>
            <a:prstDash val="solid"/>
          </a:ln>
        </p:spPr>
      </p:sp>
      <p:sp>
        <p:nvSpPr>
          <p:cNvPr id="31" name="">
            <a:extLst xmlns:a="http://schemas.openxmlformats.org/drawingml/2006/main">
              <a:ext uri="{FF2B5EF4-FFF2-40B4-BE49-F238E27FC236}">
                <a16:creationId xmlns:a16="http://schemas.microsoft.com/office/drawing/2014/main" id="{6B8B88DE-3981-4D1B-99B9-BAF83DB9A49F}"/>
              </a:ext>
            </a:extLst>
          </p:cNvPr>
          <p:cNvSpPr>
            <a:spLocks xmlns:a="http://schemas.openxmlformats.org/drawingml/2006/main" noGrp="1"/>
          </p:cNvSpPr>
          <p:nvPr/>
        </p:nvSpPr>
        <p:spPr>
          <a:xfrm xmlns:a="http://schemas.openxmlformats.org/drawingml/2006/main">
            <a:off x="762000" y="3943350"/>
            <a:ext cx="205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1F3A"/>
                </a:solidFill>
              </a:defRPr>
            </a:pPr>
            <a:r>
              <a:rPr sz="1275" b="1">
                <a:solidFill>
                  <a:srgbClr val="0B1F3A"/>
                </a:solidFill>
              </a:rPr>
              <a:t>Sustainability</a:t>
            </a:r>
          </a:p>
        </p:txBody>
      </p:sp>
      <p:sp>
        <p:nvSpPr>
          <p:cNvPr id="32" name="">
            <a:extLst xmlns:a="http://schemas.openxmlformats.org/drawingml/2006/main">
              <a:ext uri="{FF2B5EF4-FFF2-40B4-BE49-F238E27FC236}">
                <a16:creationId xmlns:a16="http://schemas.microsoft.com/office/drawing/2014/main" id="{BDF10461-948B-4005-A77D-A40CA3C4A26C}"/>
              </a:ext>
            </a:extLst>
          </p:cNvPr>
          <p:cNvSpPr>
            <a:spLocks xmlns:a="http://schemas.openxmlformats.org/drawingml/2006/main" noGrp="1"/>
          </p:cNvSpPr>
          <p:nvPr/>
        </p:nvSpPr>
        <p:spPr>
          <a:xfrm xmlns:a="http://schemas.openxmlformats.org/drawingml/2006/main">
            <a:off x="609600" y="4762500"/>
            <a:ext cx="10401300" cy="1066800"/>
          </a:xfrm>
          <a:prstGeom xmlns:a="http://schemas.openxmlformats.org/drawingml/2006/main" prst="roundRect">
            <a:avLst>
              <a:gd name="adj" fmla="val 10714"/>
            </a:avLst>
          </a:prstGeom>
          <a:solidFill xmlns:a="http://schemas.openxmlformats.org/drawingml/2006/main">
            <a:srgbClr val="0B1F3A"/>
          </a:solidFill>
          <a:ln xmlns:a="http://schemas.openxmlformats.org/drawingml/2006/main" w="9525">
            <a:solidFill>
              <a:srgbClr val="0B1F3A"/>
            </a:solidFill>
            <a:prstDash val="solid"/>
          </a:ln>
        </p:spPr>
      </p:sp>
      <p:sp>
        <p:nvSpPr>
          <p:cNvPr id="33" name="">
            <a:extLst xmlns:a="http://schemas.openxmlformats.org/drawingml/2006/main">
              <a:ext uri="{FF2B5EF4-FFF2-40B4-BE49-F238E27FC236}">
                <a16:creationId xmlns:a16="http://schemas.microsoft.com/office/drawing/2014/main" id="{1E37D2A9-303F-411B-9296-E764290DA66C}"/>
              </a:ext>
            </a:extLst>
          </p:cNvPr>
          <p:cNvSpPr>
            <a:spLocks xmlns:a="http://schemas.openxmlformats.org/drawingml/2006/main" noGrp="1"/>
          </p:cNvSpPr>
          <p:nvPr/>
        </p:nvSpPr>
        <p:spPr>
          <a:xfrm xmlns:a="http://schemas.openxmlformats.org/drawingml/2006/main">
            <a:off x="838200" y="495300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2B8C4"/>
                </a:solidFill>
              </a:defRPr>
            </a:pPr>
            <a:r>
              <a:rPr sz="1350" b="1">
                <a:solidFill>
                  <a:srgbClr val="12B8C4"/>
                </a:solidFill>
              </a:rPr>
              <a:t>Reusable by design</a:t>
            </a:r>
          </a:p>
        </p:txBody>
      </p:sp>
      <p:sp>
        <p:nvSpPr>
          <p:cNvPr id="34" name="">
            <a:extLst xmlns:a="http://schemas.openxmlformats.org/drawingml/2006/main">
              <a:ext uri="{FF2B5EF4-FFF2-40B4-BE49-F238E27FC236}">
                <a16:creationId xmlns:a16="http://schemas.microsoft.com/office/drawing/2014/main" id="{C513E12C-9F4B-4B0A-8520-E0616D41B4CB}"/>
              </a:ext>
            </a:extLst>
          </p:cNvPr>
          <p:cNvSpPr>
            <a:spLocks xmlns:a="http://schemas.openxmlformats.org/drawingml/2006/main" noGrp="1"/>
          </p:cNvSpPr>
          <p:nvPr/>
        </p:nvSpPr>
        <p:spPr>
          <a:xfrm xmlns:a="http://schemas.openxmlformats.org/drawingml/2006/main">
            <a:off x="838200" y="5276850"/>
            <a:ext cx="962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FFFFFF"/>
                </a:solidFill>
              </a:defRPr>
            </a:pPr>
            <a:r>
              <a:rPr sz="1575" b="1">
                <a:solidFill>
                  <a:srgbClr val="FFFFFF"/>
                </a:solidFill>
              </a:rPr>
              <a:t>Versioned JSON + CSV knowledge-base exports make the framework portable beyond this interface.</a:t>
            </a:r>
          </a:p>
        </p:txBody>
      </p:sp>
    </p:spTree>
    <p:extLst>
      <p:ext uri="{BB962C8B-B14F-4D97-AF65-F5344CB8AC3E}">
        <p14:creationId xmlns:p14="http://schemas.microsoft.com/office/powerpoint/2010/main" val="8263260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5AE89590-874F-4840-852D-BCDD29B77D38}"/>
              </a:ext>
            </a:extLst>
          </p:cNvPr>
          <p:cNvSpPr>
            <a:spLocks xmlns:a="http://schemas.openxmlformats.org/drawingml/2006/main" noGrp="1"/>
          </p:cNvSpPr>
          <p:nvPr/>
        </p:nvSpPr>
        <p:spPr>
          <a:xfrm xmlns:a="http://schemas.openxmlformats.org/drawingml/2006/main">
            <a:off x="609600" y="38100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1769E0"/>
                </a:solidFill>
              </a:defRPr>
            </a:pPr>
            <a:r>
              <a:rPr sz="975" b="1">
                <a:solidFill>
                  <a:srgbClr val="1769E0"/>
                </a:solidFill>
              </a:rPr>
              <a:t>06 · POLICY OUTPUT</a:t>
            </a:r>
          </a:p>
        </p:txBody>
      </p:sp>
      <p:sp>
        <p:nvSpPr>
          <p:cNvPr id="2" name="">
            <a:extLst xmlns:a="http://schemas.openxmlformats.org/drawingml/2006/main">
              <a:ext uri="{FF2B5EF4-FFF2-40B4-BE49-F238E27FC236}">
                <a16:creationId xmlns:a16="http://schemas.microsoft.com/office/drawing/2014/main" id="{7B21149D-DFE5-4418-BA8F-BD964C5489E3}"/>
              </a:ext>
            </a:extLst>
          </p:cNvPr>
          <p:cNvSpPr>
            <a:spLocks xmlns:a="http://schemas.openxmlformats.org/drawingml/2006/main" noGrp="1"/>
          </p:cNvSpPr>
          <p:nvPr/>
        </p:nvSpPr>
        <p:spPr>
          <a:xfrm xmlns:a="http://schemas.openxmlformats.org/drawingml/2006/main">
            <a:off x="609600" y="74295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B1F3A"/>
                </a:solidFill>
              </a:defRPr>
            </a:pPr>
            <a:r>
              <a:rPr sz="2700" b="1">
                <a:solidFill>
                  <a:srgbClr val="0B1F3A"/>
                </a:solidFill>
              </a:rPr>
              <a:t>A gap becomes an owned, measurable intervention</a:t>
            </a:r>
          </a:p>
        </p:txBody>
      </p:sp>
      <p:sp>
        <p:nvSpPr>
          <p:cNvPr id="3" name="">
            <a:extLst xmlns:a="http://schemas.openxmlformats.org/drawingml/2006/main">
              <a:ext uri="{FF2B5EF4-FFF2-40B4-BE49-F238E27FC236}">
                <a16:creationId xmlns:a16="http://schemas.microsoft.com/office/drawing/2014/main" id="{F0F097D0-65FC-451E-9970-DE75DE14AEA3}"/>
              </a:ext>
            </a:extLst>
          </p:cNvPr>
          <p:cNvSpPr>
            <a:spLocks xmlns:a="http://schemas.openxmlformats.org/drawingml/2006/main" noGrp="1"/>
          </p:cNvSpPr>
          <p:nvPr/>
        </p:nvSpPr>
        <p:spPr>
          <a:xfrm xmlns:a="http://schemas.openxmlformats.org/drawingml/2006/main">
            <a:off x="11182350" y="40005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F6B7A"/>
                </a:solidFill>
              </a:defRPr>
            </a:pPr>
            <a:r>
              <a:rPr sz="900" b="1">
                <a:solidFill>
                  <a:srgbClr val="5F6B7A"/>
                </a:solidFill>
              </a:rPr>
              <a:t>07</a:t>
            </a:r>
          </a:p>
        </p:txBody>
      </p:sp>
      <p:sp>
        <p:nvSpPr>
          <p:cNvPr id="4" name="">
            <a:extLst xmlns:a="http://schemas.openxmlformats.org/drawingml/2006/main">
              <a:ext uri="{FF2B5EF4-FFF2-40B4-BE49-F238E27FC236}">
                <a16:creationId xmlns:a16="http://schemas.microsoft.com/office/drawing/2014/main" id="{27E1D3B9-A4BF-43D1-970B-B14AF7EA3231}"/>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1EC"/>
            </a:solidFill>
            <a:prstDash val="solid"/>
          </a:ln>
        </p:spPr>
      </p:sp>
      <p:sp>
        <p:nvSpPr>
          <p:cNvPr id="5" name="">
            <a:extLst xmlns:a="http://schemas.openxmlformats.org/drawingml/2006/main">
              <a:ext uri="{FF2B5EF4-FFF2-40B4-BE49-F238E27FC236}">
                <a16:creationId xmlns:a16="http://schemas.microsoft.com/office/drawing/2014/main" id="{746B0628-E7F9-4D96-A651-4B64DA36D9B2}"/>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6B7A"/>
                </a:solidFill>
              </a:defRPr>
            </a:pPr>
            <a:r>
              <a:rPr sz="750" b="1">
                <a:solidFill>
                  <a:srgbClr val="5F6B7A"/>
                </a:solidFill>
              </a:rPr>
              <a:t>FURSAH · AI-POWERED WORKFORCE READINESS</a:t>
            </a:r>
          </a:p>
        </p:txBody>
      </p:sp>
      <p:sp>
        <p:nvSpPr>
          <p:cNvPr id="6" name="">
            <a:extLst xmlns:a="http://schemas.openxmlformats.org/drawingml/2006/main">
              <a:ext uri="{FF2B5EF4-FFF2-40B4-BE49-F238E27FC236}">
                <a16:creationId xmlns:a16="http://schemas.microsoft.com/office/drawing/2014/main" id="{32C5B1DE-B667-4C99-B195-18D130E5AC77}"/>
              </a:ext>
            </a:extLst>
          </p:cNvPr>
          <p:cNvSpPr>
            <a:spLocks xmlns:a="http://schemas.openxmlformats.org/drawingml/2006/main" noGrp="1"/>
          </p:cNvSpPr>
          <p:nvPr/>
        </p:nvSpPr>
        <p:spPr>
          <a:xfrm xmlns:a="http://schemas.openxmlformats.org/drawingml/2006/main">
            <a:off x="685800" y="1581150"/>
            <a:ext cx="295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6B7A"/>
                </a:solidFill>
              </a:defRPr>
            </a:pPr>
            <a:r>
              <a:rPr sz="825" b="1">
                <a:solidFill>
                  <a:srgbClr val="5F6B7A"/>
                </a:solidFill>
              </a:rPr>
              <a:t>TRIGGER</a:t>
            </a:r>
          </a:p>
        </p:txBody>
      </p:sp>
      <p:sp>
        <p:nvSpPr>
          <p:cNvPr id="7" name="">
            <a:extLst xmlns:a="http://schemas.openxmlformats.org/drawingml/2006/main">
              <a:ext uri="{FF2B5EF4-FFF2-40B4-BE49-F238E27FC236}">
                <a16:creationId xmlns:a16="http://schemas.microsoft.com/office/drawing/2014/main" id="{E9C4CEBB-B65C-43C5-912D-901F9D3E4A7F}"/>
              </a:ext>
            </a:extLst>
          </p:cNvPr>
          <p:cNvSpPr>
            <a:spLocks xmlns:a="http://schemas.openxmlformats.org/drawingml/2006/main" noGrp="1"/>
          </p:cNvSpPr>
          <p:nvPr/>
        </p:nvSpPr>
        <p:spPr>
          <a:xfrm xmlns:a="http://schemas.openxmlformats.org/drawingml/2006/main">
            <a:off x="3886200" y="158115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6B7A"/>
                </a:solidFill>
              </a:defRPr>
            </a:pPr>
            <a:r>
              <a:rPr sz="825" b="1">
                <a:solidFill>
                  <a:srgbClr val="5F6B7A"/>
                </a:solidFill>
              </a:rPr>
              <a:t>OWNER</a:t>
            </a:r>
          </a:p>
        </p:txBody>
      </p:sp>
      <p:sp>
        <p:nvSpPr>
          <p:cNvPr id="8" name="">
            <a:extLst xmlns:a="http://schemas.openxmlformats.org/drawingml/2006/main">
              <a:ext uri="{FF2B5EF4-FFF2-40B4-BE49-F238E27FC236}">
                <a16:creationId xmlns:a16="http://schemas.microsoft.com/office/drawing/2014/main" id="{7EF24A2C-83E8-49F4-8756-6BCF23E67B50}"/>
              </a:ext>
            </a:extLst>
          </p:cNvPr>
          <p:cNvSpPr>
            <a:spLocks xmlns:a="http://schemas.openxmlformats.org/drawingml/2006/main" noGrp="1"/>
          </p:cNvSpPr>
          <p:nvPr/>
        </p:nvSpPr>
        <p:spPr>
          <a:xfrm xmlns:a="http://schemas.openxmlformats.org/drawingml/2006/main">
            <a:off x="6191250" y="1581150"/>
            <a:ext cx="152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6B7A"/>
                </a:solidFill>
              </a:defRPr>
            </a:pPr>
            <a:r>
              <a:rPr sz="825" b="1">
                <a:solidFill>
                  <a:srgbClr val="5F6B7A"/>
                </a:solidFill>
              </a:rPr>
              <a:t>REVIEW</a:t>
            </a:r>
          </a:p>
        </p:txBody>
      </p:sp>
      <p:sp>
        <p:nvSpPr>
          <p:cNvPr id="9" name="">
            <a:extLst xmlns:a="http://schemas.openxmlformats.org/drawingml/2006/main">
              <a:ext uri="{FF2B5EF4-FFF2-40B4-BE49-F238E27FC236}">
                <a16:creationId xmlns:a16="http://schemas.microsoft.com/office/drawing/2014/main" id="{08A2BE93-CBA3-4A9C-A9F7-0A288C1496D7}"/>
              </a:ext>
            </a:extLst>
          </p:cNvPr>
          <p:cNvSpPr>
            <a:spLocks xmlns:a="http://schemas.openxmlformats.org/drawingml/2006/main" noGrp="1"/>
          </p:cNvSpPr>
          <p:nvPr/>
        </p:nvSpPr>
        <p:spPr>
          <a:xfrm xmlns:a="http://schemas.openxmlformats.org/drawingml/2006/main">
            <a:off x="7886700" y="158115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6B7A"/>
                </a:solidFill>
              </a:defRPr>
            </a:pPr>
            <a:r>
              <a:rPr sz="825" b="1">
                <a:solidFill>
                  <a:srgbClr val="5F6B7A"/>
                </a:solidFill>
              </a:rPr>
              <a:t>METRIC</a:t>
            </a:r>
          </a:p>
        </p:txBody>
      </p:sp>
      <p:sp>
        <p:nvSpPr>
          <p:cNvPr id="10" name="">
            <a:extLst xmlns:a="http://schemas.openxmlformats.org/drawingml/2006/main">
              <a:ext uri="{FF2B5EF4-FFF2-40B4-BE49-F238E27FC236}">
                <a16:creationId xmlns:a16="http://schemas.microsoft.com/office/drawing/2014/main" id="{90BDFAE0-5508-4119-AC6D-CB2D5319E1B4}"/>
              </a:ext>
            </a:extLst>
          </p:cNvPr>
          <p:cNvSpPr>
            <a:spLocks xmlns:a="http://schemas.openxmlformats.org/drawingml/2006/main" noGrp="1"/>
          </p:cNvSpPr>
          <p:nvPr/>
        </p:nvSpPr>
        <p:spPr>
          <a:xfrm xmlns:a="http://schemas.openxmlformats.org/drawingml/2006/main">
            <a:off x="609600" y="1847850"/>
            <a:ext cx="10401300" cy="514350"/>
          </a:xfrm>
          <a:prstGeom xmlns:a="http://schemas.openxmlformats.org/drawingml/2006/main" prst="roundRect">
            <a:avLst>
              <a:gd name="adj" fmla="val 0"/>
            </a:avLst>
          </a:prstGeom>
          <a:solidFill xmlns:a="http://schemas.openxmlformats.org/drawingml/2006/main">
            <a:srgbClr val="F6F9FC"/>
          </a:solidFill>
          <a:ln xmlns:a="http://schemas.openxmlformats.org/drawingml/2006/main" w="9525">
            <a:solidFill>
              <a:srgbClr val="F6F9FC"/>
            </a:solidFill>
            <a:prstDash val="solid"/>
          </a:ln>
        </p:spPr>
      </p:sp>
      <p:sp>
        <p:nvSpPr>
          <p:cNvPr id="11" name="">
            <a:extLst xmlns:a="http://schemas.openxmlformats.org/drawingml/2006/main">
              <a:ext uri="{FF2B5EF4-FFF2-40B4-BE49-F238E27FC236}">
                <a16:creationId xmlns:a16="http://schemas.microsoft.com/office/drawing/2014/main" id="{EA237E18-C8B8-4FB5-9A69-61B4A88DE53E}"/>
              </a:ext>
            </a:extLst>
          </p:cNvPr>
          <p:cNvSpPr>
            <a:spLocks xmlns:a="http://schemas.openxmlformats.org/drawingml/2006/main" noGrp="1"/>
          </p:cNvSpPr>
          <p:nvPr/>
        </p:nvSpPr>
        <p:spPr>
          <a:xfrm xmlns:a="http://schemas.openxmlformats.org/drawingml/2006/main">
            <a:off x="723900" y="192405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42033"/>
                </a:solidFill>
              </a:defRPr>
            </a:pPr>
            <a:r>
              <a:rPr sz="1200" b="1">
                <a:solidFill>
                  <a:srgbClr val="142033"/>
                </a:solidFill>
              </a:rPr>
              <a:t>Low verified evidence</a:t>
            </a:r>
          </a:p>
        </p:txBody>
      </p:sp>
      <p:sp>
        <p:nvSpPr>
          <p:cNvPr id="12" name="">
            <a:extLst xmlns:a="http://schemas.openxmlformats.org/drawingml/2006/main">
              <a:ext uri="{FF2B5EF4-FFF2-40B4-BE49-F238E27FC236}">
                <a16:creationId xmlns:a16="http://schemas.microsoft.com/office/drawing/2014/main" id="{DBB9C770-9012-4D72-9D7A-40796B87291E}"/>
              </a:ext>
            </a:extLst>
          </p:cNvPr>
          <p:cNvSpPr>
            <a:spLocks xmlns:a="http://schemas.openxmlformats.org/drawingml/2006/main" noGrp="1"/>
          </p:cNvSpPr>
          <p:nvPr/>
        </p:nvSpPr>
        <p:spPr>
          <a:xfrm xmlns:a="http://schemas.openxmlformats.org/drawingml/2006/main">
            <a:off x="3886200" y="192405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42033"/>
                </a:solidFill>
              </a:defRPr>
            </a:pPr>
            <a:r>
              <a:rPr sz="1200" b="0">
                <a:solidFill>
                  <a:srgbClr val="142033"/>
                </a:solidFill>
              </a:rPr>
              <a:t>Student Success</a:t>
            </a:r>
          </a:p>
        </p:txBody>
      </p:sp>
      <p:sp>
        <p:nvSpPr>
          <p:cNvPr id="13" name="">
            <a:extLst xmlns:a="http://schemas.openxmlformats.org/drawingml/2006/main">
              <a:ext uri="{FF2B5EF4-FFF2-40B4-BE49-F238E27FC236}">
                <a16:creationId xmlns:a16="http://schemas.microsoft.com/office/drawing/2014/main" id="{122B8C79-1FAF-42B9-9BE2-989019B33604}"/>
              </a:ext>
            </a:extLst>
          </p:cNvPr>
          <p:cNvSpPr>
            <a:spLocks xmlns:a="http://schemas.openxmlformats.org/drawingml/2006/main" noGrp="1"/>
          </p:cNvSpPr>
          <p:nvPr/>
        </p:nvSpPr>
        <p:spPr>
          <a:xfrm xmlns:a="http://schemas.openxmlformats.org/drawingml/2006/main">
            <a:off x="6191250" y="19240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42033"/>
                </a:solidFill>
              </a:defRPr>
            </a:pPr>
            <a:r>
              <a:rPr sz="1200" b="0">
                <a:solidFill>
                  <a:srgbClr val="142033"/>
                </a:solidFill>
              </a:rPr>
              <a:t>Monthly</a:t>
            </a:r>
          </a:p>
        </p:txBody>
      </p:sp>
      <p:sp>
        <p:nvSpPr>
          <p:cNvPr id="14" name="">
            <a:extLst xmlns:a="http://schemas.openxmlformats.org/drawingml/2006/main">
              <a:ext uri="{FF2B5EF4-FFF2-40B4-BE49-F238E27FC236}">
                <a16:creationId xmlns:a16="http://schemas.microsoft.com/office/drawing/2014/main" id="{E2D43BB0-CC33-410C-8C7B-CA03BB503C2C}"/>
              </a:ext>
            </a:extLst>
          </p:cNvPr>
          <p:cNvSpPr>
            <a:spLocks xmlns:a="http://schemas.openxmlformats.org/drawingml/2006/main" noGrp="1"/>
          </p:cNvSpPr>
          <p:nvPr/>
        </p:nvSpPr>
        <p:spPr>
          <a:xfrm xmlns:a="http://schemas.openxmlformats.org/drawingml/2006/main">
            <a:off x="7886700" y="19240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769E0"/>
                </a:solidFill>
              </a:defRPr>
            </a:pPr>
            <a:r>
              <a:rPr sz="1200" b="1">
                <a:solidFill>
                  <a:srgbClr val="1769E0"/>
                </a:solidFill>
              </a:rPr>
              <a:t>Evidence completion</a:t>
            </a:r>
          </a:p>
        </p:txBody>
      </p:sp>
      <p:sp>
        <p:nvSpPr>
          <p:cNvPr id="15" name="">
            <a:extLst xmlns:a="http://schemas.openxmlformats.org/drawingml/2006/main">
              <a:ext uri="{FF2B5EF4-FFF2-40B4-BE49-F238E27FC236}">
                <a16:creationId xmlns:a16="http://schemas.microsoft.com/office/drawing/2014/main" id="{EBD6842C-54AA-4B74-9E3B-69201C79036D}"/>
              </a:ext>
            </a:extLst>
          </p:cNvPr>
          <p:cNvSpPr>
            <a:spLocks xmlns:a="http://schemas.openxmlformats.org/drawingml/2006/main" noGrp="1"/>
          </p:cNvSpPr>
          <p:nvPr/>
        </p:nvSpPr>
        <p:spPr>
          <a:xfrm xmlns:a="http://schemas.openxmlformats.org/drawingml/2006/main">
            <a:off x="723900" y="257175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42033"/>
                </a:solidFill>
              </a:defRPr>
            </a:pPr>
            <a:r>
              <a:rPr sz="1200" b="1">
                <a:solidFill>
                  <a:srgbClr val="142033"/>
                </a:solidFill>
              </a:rPr>
              <a:t>Repeated prerequisite failure</a:t>
            </a:r>
          </a:p>
        </p:txBody>
      </p:sp>
      <p:sp>
        <p:nvSpPr>
          <p:cNvPr id="16" name="">
            <a:extLst xmlns:a="http://schemas.openxmlformats.org/drawingml/2006/main">
              <a:ext uri="{FF2B5EF4-FFF2-40B4-BE49-F238E27FC236}">
                <a16:creationId xmlns:a16="http://schemas.microsoft.com/office/drawing/2014/main" id="{2147642E-E650-4A0C-BE3D-BAF5520022DE}"/>
              </a:ext>
            </a:extLst>
          </p:cNvPr>
          <p:cNvSpPr>
            <a:spLocks xmlns:a="http://schemas.openxmlformats.org/drawingml/2006/main" noGrp="1"/>
          </p:cNvSpPr>
          <p:nvPr/>
        </p:nvSpPr>
        <p:spPr>
          <a:xfrm xmlns:a="http://schemas.openxmlformats.org/drawingml/2006/main">
            <a:off x="3886200" y="257175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42033"/>
                </a:solidFill>
              </a:defRPr>
            </a:pPr>
            <a:r>
              <a:rPr sz="1200" b="0">
                <a:solidFill>
                  <a:srgbClr val="142033"/>
                </a:solidFill>
              </a:rPr>
              <a:t>Academic Affairs</a:t>
            </a:r>
          </a:p>
        </p:txBody>
      </p:sp>
      <p:sp>
        <p:nvSpPr>
          <p:cNvPr id="17" name="">
            <a:extLst xmlns:a="http://schemas.openxmlformats.org/drawingml/2006/main">
              <a:ext uri="{FF2B5EF4-FFF2-40B4-BE49-F238E27FC236}">
                <a16:creationId xmlns:a16="http://schemas.microsoft.com/office/drawing/2014/main" id="{848E95D3-F9A8-4E6D-B637-89D5F840BD0E}"/>
              </a:ext>
            </a:extLst>
          </p:cNvPr>
          <p:cNvSpPr>
            <a:spLocks xmlns:a="http://schemas.openxmlformats.org/drawingml/2006/main" noGrp="1"/>
          </p:cNvSpPr>
          <p:nvPr/>
        </p:nvSpPr>
        <p:spPr>
          <a:xfrm xmlns:a="http://schemas.openxmlformats.org/drawingml/2006/main">
            <a:off x="6191250" y="25717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42033"/>
                </a:solidFill>
              </a:defRPr>
            </a:pPr>
            <a:r>
              <a:rPr sz="1200" b="0">
                <a:solidFill>
                  <a:srgbClr val="142033"/>
                </a:solidFill>
              </a:rPr>
              <a:t>Per term</a:t>
            </a:r>
          </a:p>
        </p:txBody>
      </p:sp>
      <p:sp>
        <p:nvSpPr>
          <p:cNvPr id="18" name="">
            <a:extLst xmlns:a="http://schemas.openxmlformats.org/drawingml/2006/main">
              <a:ext uri="{FF2B5EF4-FFF2-40B4-BE49-F238E27FC236}">
                <a16:creationId xmlns:a16="http://schemas.microsoft.com/office/drawing/2014/main" id="{92022154-B785-4658-853E-4A4A6E49CE7C}"/>
              </a:ext>
            </a:extLst>
          </p:cNvPr>
          <p:cNvSpPr>
            <a:spLocks xmlns:a="http://schemas.openxmlformats.org/drawingml/2006/main" noGrp="1"/>
          </p:cNvSpPr>
          <p:nvPr/>
        </p:nvSpPr>
        <p:spPr>
          <a:xfrm xmlns:a="http://schemas.openxmlformats.org/drawingml/2006/main">
            <a:off x="7886700" y="25717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769E0"/>
                </a:solidFill>
              </a:defRPr>
            </a:pPr>
            <a:r>
              <a:rPr sz="1200" b="1">
                <a:solidFill>
                  <a:srgbClr val="1769E0"/>
                </a:solidFill>
              </a:rPr>
              <a:t>Gate recovery</a:t>
            </a:r>
          </a:p>
        </p:txBody>
      </p:sp>
      <p:sp>
        <p:nvSpPr>
          <p:cNvPr id="19" name="">
            <a:extLst xmlns:a="http://schemas.openxmlformats.org/drawingml/2006/main">
              <a:ext uri="{FF2B5EF4-FFF2-40B4-BE49-F238E27FC236}">
                <a16:creationId xmlns:a16="http://schemas.microsoft.com/office/drawing/2014/main" id="{3906421F-E609-4CD4-B5E4-66E3BC59D021}"/>
              </a:ext>
            </a:extLst>
          </p:cNvPr>
          <p:cNvSpPr>
            <a:spLocks xmlns:a="http://schemas.openxmlformats.org/drawingml/2006/main" noGrp="1"/>
          </p:cNvSpPr>
          <p:nvPr/>
        </p:nvSpPr>
        <p:spPr>
          <a:xfrm xmlns:a="http://schemas.openxmlformats.org/drawingml/2006/main">
            <a:off x="609600" y="3143250"/>
            <a:ext cx="10401300" cy="514350"/>
          </a:xfrm>
          <a:prstGeom xmlns:a="http://schemas.openxmlformats.org/drawingml/2006/main" prst="roundRect">
            <a:avLst>
              <a:gd name="adj" fmla="val 0"/>
            </a:avLst>
          </a:prstGeom>
          <a:solidFill xmlns:a="http://schemas.openxmlformats.org/drawingml/2006/main">
            <a:srgbClr val="F6F9FC"/>
          </a:solidFill>
          <a:ln xmlns:a="http://schemas.openxmlformats.org/drawingml/2006/main" w="9525">
            <a:solidFill>
              <a:srgbClr val="F6F9FC"/>
            </a:solidFill>
            <a:prstDash val="solid"/>
          </a:ln>
        </p:spPr>
      </p:sp>
      <p:sp>
        <p:nvSpPr>
          <p:cNvPr id="20" name="">
            <a:extLst xmlns:a="http://schemas.openxmlformats.org/drawingml/2006/main">
              <a:ext uri="{FF2B5EF4-FFF2-40B4-BE49-F238E27FC236}">
                <a16:creationId xmlns:a16="http://schemas.microsoft.com/office/drawing/2014/main" id="{80EFFFC6-675B-434F-B217-85F5C9DC1AE0}"/>
              </a:ext>
            </a:extLst>
          </p:cNvPr>
          <p:cNvSpPr>
            <a:spLocks xmlns:a="http://schemas.openxmlformats.org/drawingml/2006/main" noGrp="1"/>
          </p:cNvSpPr>
          <p:nvPr/>
        </p:nvSpPr>
        <p:spPr>
          <a:xfrm xmlns:a="http://schemas.openxmlformats.org/drawingml/2006/main">
            <a:off x="723900" y="321945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42033"/>
                </a:solidFill>
              </a:defRPr>
            </a:pPr>
            <a:r>
              <a:rPr sz="1200" b="1">
                <a:solidFill>
                  <a:srgbClr val="142033"/>
                </a:solidFill>
              </a:rPr>
              <a:t>Stale role evidence</a:t>
            </a:r>
          </a:p>
        </p:txBody>
      </p:sp>
      <p:sp>
        <p:nvSpPr>
          <p:cNvPr id="21" name="">
            <a:extLst xmlns:a="http://schemas.openxmlformats.org/drawingml/2006/main">
              <a:ext uri="{FF2B5EF4-FFF2-40B4-BE49-F238E27FC236}">
                <a16:creationId xmlns:a16="http://schemas.microsoft.com/office/drawing/2014/main" id="{408D3C68-438D-40AA-BA1B-76DA6AFE3467}"/>
              </a:ext>
            </a:extLst>
          </p:cNvPr>
          <p:cNvSpPr>
            <a:spLocks xmlns:a="http://schemas.openxmlformats.org/drawingml/2006/main" noGrp="1"/>
          </p:cNvSpPr>
          <p:nvPr/>
        </p:nvSpPr>
        <p:spPr>
          <a:xfrm xmlns:a="http://schemas.openxmlformats.org/drawingml/2006/main">
            <a:off x="3886200" y="321945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42033"/>
                </a:solidFill>
              </a:defRPr>
            </a:pPr>
            <a:r>
              <a:rPr sz="1200" b="0">
                <a:solidFill>
                  <a:srgbClr val="142033"/>
                </a:solidFill>
              </a:rPr>
              <a:t>Career Services</a:t>
            </a:r>
          </a:p>
        </p:txBody>
      </p:sp>
      <p:sp>
        <p:nvSpPr>
          <p:cNvPr id="22" name="">
            <a:extLst xmlns:a="http://schemas.openxmlformats.org/drawingml/2006/main">
              <a:ext uri="{FF2B5EF4-FFF2-40B4-BE49-F238E27FC236}">
                <a16:creationId xmlns:a16="http://schemas.microsoft.com/office/drawing/2014/main" id="{061E571C-7F7F-40EA-BFA5-30757A5F6165}"/>
              </a:ext>
            </a:extLst>
          </p:cNvPr>
          <p:cNvSpPr>
            <a:spLocks xmlns:a="http://schemas.openxmlformats.org/drawingml/2006/main" noGrp="1"/>
          </p:cNvSpPr>
          <p:nvPr/>
        </p:nvSpPr>
        <p:spPr>
          <a:xfrm xmlns:a="http://schemas.openxmlformats.org/drawingml/2006/main">
            <a:off x="6191250" y="32194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42033"/>
                </a:solidFill>
              </a:defRPr>
            </a:pPr>
            <a:r>
              <a:rPr sz="1200" b="0">
                <a:solidFill>
                  <a:srgbClr val="142033"/>
                </a:solidFill>
              </a:rPr>
              <a:t>Quarterly</a:t>
            </a:r>
          </a:p>
        </p:txBody>
      </p:sp>
      <p:sp>
        <p:nvSpPr>
          <p:cNvPr id="23" name="">
            <a:extLst xmlns:a="http://schemas.openxmlformats.org/drawingml/2006/main">
              <a:ext uri="{FF2B5EF4-FFF2-40B4-BE49-F238E27FC236}">
                <a16:creationId xmlns:a16="http://schemas.microsoft.com/office/drawing/2014/main" id="{05170A6E-D2D6-42AD-9ED5-24C43A166A70}"/>
              </a:ext>
            </a:extLst>
          </p:cNvPr>
          <p:cNvSpPr>
            <a:spLocks xmlns:a="http://schemas.openxmlformats.org/drawingml/2006/main" noGrp="1"/>
          </p:cNvSpPr>
          <p:nvPr/>
        </p:nvSpPr>
        <p:spPr>
          <a:xfrm xmlns:a="http://schemas.openxmlformats.org/drawingml/2006/main">
            <a:off x="7886700" y="32194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769E0"/>
                </a:solidFill>
              </a:defRPr>
            </a:pPr>
            <a:r>
              <a:rPr sz="1200" b="1">
                <a:solidFill>
                  <a:srgbClr val="1769E0"/>
                </a:solidFill>
              </a:rPr>
              <a:t>Source freshness</a:t>
            </a:r>
          </a:p>
        </p:txBody>
      </p:sp>
      <p:sp>
        <p:nvSpPr>
          <p:cNvPr id="24" name="">
            <a:extLst xmlns:a="http://schemas.openxmlformats.org/drawingml/2006/main">
              <a:ext uri="{FF2B5EF4-FFF2-40B4-BE49-F238E27FC236}">
                <a16:creationId xmlns:a16="http://schemas.microsoft.com/office/drawing/2014/main" id="{9C7B2FC7-BB9C-481E-ABEF-F3C9D2171487}"/>
              </a:ext>
            </a:extLst>
          </p:cNvPr>
          <p:cNvSpPr>
            <a:spLocks xmlns:a="http://schemas.openxmlformats.org/drawingml/2006/main" noGrp="1"/>
          </p:cNvSpPr>
          <p:nvPr/>
        </p:nvSpPr>
        <p:spPr>
          <a:xfrm xmlns:a="http://schemas.openxmlformats.org/drawingml/2006/main">
            <a:off x="723900" y="386715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42033"/>
                </a:solidFill>
              </a:defRPr>
            </a:pPr>
            <a:r>
              <a:rPr sz="1200" b="1">
                <a:solidFill>
                  <a:srgbClr val="142033"/>
                </a:solidFill>
              </a:rPr>
              <a:t>Low-confidence recommendation</a:t>
            </a:r>
          </a:p>
        </p:txBody>
      </p:sp>
      <p:sp>
        <p:nvSpPr>
          <p:cNvPr id="25" name="">
            <a:extLst xmlns:a="http://schemas.openxmlformats.org/drawingml/2006/main">
              <a:ext uri="{FF2B5EF4-FFF2-40B4-BE49-F238E27FC236}">
                <a16:creationId xmlns:a16="http://schemas.microsoft.com/office/drawing/2014/main" id="{27672D72-E685-4847-B3CB-417FD913937F}"/>
              </a:ext>
            </a:extLst>
          </p:cNvPr>
          <p:cNvSpPr>
            <a:spLocks xmlns:a="http://schemas.openxmlformats.org/drawingml/2006/main" noGrp="1"/>
          </p:cNvSpPr>
          <p:nvPr/>
        </p:nvSpPr>
        <p:spPr>
          <a:xfrm xmlns:a="http://schemas.openxmlformats.org/drawingml/2006/main">
            <a:off x="3886200" y="386715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42033"/>
                </a:solidFill>
              </a:defRPr>
            </a:pPr>
            <a:r>
              <a:rPr sz="1200" b="0">
                <a:solidFill>
                  <a:srgbClr val="142033"/>
                </a:solidFill>
              </a:rPr>
              <a:t>AI Governance</a:t>
            </a:r>
          </a:p>
        </p:txBody>
      </p:sp>
      <p:sp>
        <p:nvSpPr>
          <p:cNvPr id="26" name="">
            <a:extLst xmlns:a="http://schemas.openxmlformats.org/drawingml/2006/main">
              <a:ext uri="{FF2B5EF4-FFF2-40B4-BE49-F238E27FC236}">
                <a16:creationId xmlns:a16="http://schemas.microsoft.com/office/drawing/2014/main" id="{17E7E016-912A-4D24-B791-79D0D6CDF1B4}"/>
              </a:ext>
            </a:extLst>
          </p:cNvPr>
          <p:cNvSpPr>
            <a:spLocks xmlns:a="http://schemas.openxmlformats.org/drawingml/2006/main" noGrp="1"/>
          </p:cNvSpPr>
          <p:nvPr/>
        </p:nvSpPr>
        <p:spPr>
          <a:xfrm xmlns:a="http://schemas.openxmlformats.org/drawingml/2006/main">
            <a:off x="6191250" y="38671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42033"/>
                </a:solidFill>
              </a:defRPr>
            </a:pPr>
            <a:r>
              <a:rPr sz="1200" b="0">
                <a:solidFill>
                  <a:srgbClr val="142033"/>
                </a:solidFill>
              </a:rPr>
              <a:t>Monthly</a:t>
            </a:r>
          </a:p>
        </p:txBody>
      </p:sp>
      <p:sp>
        <p:nvSpPr>
          <p:cNvPr id="27" name="">
            <a:extLst xmlns:a="http://schemas.openxmlformats.org/drawingml/2006/main">
              <a:ext uri="{FF2B5EF4-FFF2-40B4-BE49-F238E27FC236}">
                <a16:creationId xmlns:a16="http://schemas.microsoft.com/office/drawing/2014/main" id="{2F912F67-7609-4C04-8C6C-CF44A1ED71B0}"/>
              </a:ext>
            </a:extLst>
          </p:cNvPr>
          <p:cNvSpPr>
            <a:spLocks xmlns:a="http://schemas.openxmlformats.org/drawingml/2006/main" noGrp="1"/>
          </p:cNvSpPr>
          <p:nvPr/>
        </p:nvSpPr>
        <p:spPr>
          <a:xfrm xmlns:a="http://schemas.openxmlformats.org/drawingml/2006/main">
            <a:off x="7886700" y="38671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769E0"/>
                </a:solidFill>
              </a:defRPr>
            </a:pPr>
            <a:r>
              <a:rPr sz="1200" b="1">
                <a:solidFill>
                  <a:srgbClr val="1769E0"/>
                </a:solidFill>
              </a:rPr>
              <a:t>Confidence mix</a:t>
            </a:r>
          </a:p>
        </p:txBody>
      </p:sp>
      <p:sp>
        <p:nvSpPr>
          <p:cNvPr id="28" name="">
            <a:extLst xmlns:a="http://schemas.openxmlformats.org/drawingml/2006/main">
              <a:ext uri="{FF2B5EF4-FFF2-40B4-BE49-F238E27FC236}">
                <a16:creationId xmlns:a16="http://schemas.microsoft.com/office/drawing/2014/main" id="{48904684-5FB3-4FDB-B3E8-4A50F6DE5639}"/>
              </a:ext>
            </a:extLst>
          </p:cNvPr>
          <p:cNvSpPr>
            <a:spLocks xmlns:a="http://schemas.openxmlformats.org/drawingml/2006/main" noGrp="1"/>
          </p:cNvSpPr>
          <p:nvPr/>
        </p:nvSpPr>
        <p:spPr>
          <a:xfrm xmlns:a="http://schemas.openxmlformats.org/drawingml/2006/main">
            <a:off x="609600" y="4438650"/>
            <a:ext cx="10401300" cy="514350"/>
          </a:xfrm>
          <a:prstGeom xmlns:a="http://schemas.openxmlformats.org/drawingml/2006/main" prst="roundRect">
            <a:avLst>
              <a:gd name="adj" fmla="val 0"/>
            </a:avLst>
          </a:prstGeom>
          <a:solidFill xmlns:a="http://schemas.openxmlformats.org/drawingml/2006/main">
            <a:srgbClr val="F6F9FC"/>
          </a:solidFill>
          <a:ln xmlns:a="http://schemas.openxmlformats.org/drawingml/2006/main" w="9525">
            <a:solidFill>
              <a:srgbClr val="F6F9FC"/>
            </a:solidFill>
            <a:prstDash val="solid"/>
          </a:ln>
        </p:spPr>
      </p:sp>
      <p:sp>
        <p:nvSpPr>
          <p:cNvPr id="29" name="">
            <a:extLst xmlns:a="http://schemas.openxmlformats.org/drawingml/2006/main">
              <a:ext uri="{FF2B5EF4-FFF2-40B4-BE49-F238E27FC236}">
                <a16:creationId xmlns:a16="http://schemas.microsoft.com/office/drawing/2014/main" id="{3407EBF3-B552-4FC6-9E85-3405CFFCDE52}"/>
              </a:ext>
            </a:extLst>
          </p:cNvPr>
          <p:cNvSpPr>
            <a:spLocks xmlns:a="http://schemas.openxmlformats.org/drawingml/2006/main" noGrp="1"/>
          </p:cNvSpPr>
          <p:nvPr/>
        </p:nvSpPr>
        <p:spPr>
          <a:xfrm xmlns:a="http://schemas.openxmlformats.org/drawingml/2006/main">
            <a:off x="723900" y="451485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42033"/>
                </a:solidFill>
              </a:defRPr>
            </a:pPr>
            <a:r>
              <a:rPr sz="1200" b="1">
                <a:solidFill>
                  <a:srgbClr val="142033"/>
                </a:solidFill>
              </a:rPr>
              <a:t>Accessibility gap</a:t>
            </a:r>
          </a:p>
        </p:txBody>
      </p:sp>
      <p:sp>
        <p:nvSpPr>
          <p:cNvPr id="30" name="">
            <a:extLst xmlns:a="http://schemas.openxmlformats.org/drawingml/2006/main">
              <a:ext uri="{FF2B5EF4-FFF2-40B4-BE49-F238E27FC236}">
                <a16:creationId xmlns:a16="http://schemas.microsoft.com/office/drawing/2014/main" id="{17BE23D1-6176-46FF-B2BA-ED9B498EC3FB}"/>
              </a:ext>
            </a:extLst>
          </p:cNvPr>
          <p:cNvSpPr>
            <a:spLocks xmlns:a="http://schemas.openxmlformats.org/drawingml/2006/main" noGrp="1"/>
          </p:cNvSpPr>
          <p:nvPr/>
        </p:nvSpPr>
        <p:spPr>
          <a:xfrm xmlns:a="http://schemas.openxmlformats.org/drawingml/2006/main">
            <a:off x="3886200" y="451485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42033"/>
                </a:solidFill>
              </a:defRPr>
            </a:pPr>
            <a:r>
              <a:rPr sz="1200" b="0">
                <a:solidFill>
                  <a:srgbClr val="142033"/>
                </a:solidFill>
              </a:rPr>
              <a:t>Product Owner</a:t>
            </a:r>
          </a:p>
        </p:txBody>
      </p:sp>
      <p:sp>
        <p:nvSpPr>
          <p:cNvPr id="31" name="">
            <a:extLst xmlns:a="http://schemas.openxmlformats.org/drawingml/2006/main">
              <a:ext uri="{FF2B5EF4-FFF2-40B4-BE49-F238E27FC236}">
                <a16:creationId xmlns:a16="http://schemas.microsoft.com/office/drawing/2014/main" id="{341BC35A-7D11-477A-A566-F883A3C83AD1}"/>
              </a:ext>
            </a:extLst>
          </p:cNvPr>
          <p:cNvSpPr>
            <a:spLocks xmlns:a="http://schemas.openxmlformats.org/drawingml/2006/main" noGrp="1"/>
          </p:cNvSpPr>
          <p:nvPr/>
        </p:nvSpPr>
        <p:spPr>
          <a:xfrm xmlns:a="http://schemas.openxmlformats.org/drawingml/2006/main">
            <a:off x="6191250" y="45148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42033"/>
                </a:solidFill>
              </a:defRPr>
            </a:pPr>
            <a:r>
              <a:rPr sz="1200" b="0">
                <a:solidFill>
                  <a:srgbClr val="142033"/>
                </a:solidFill>
              </a:rPr>
              <a:t>Per release</a:t>
            </a:r>
          </a:p>
        </p:txBody>
      </p:sp>
      <p:sp>
        <p:nvSpPr>
          <p:cNvPr id="32" name="">
            <a:extLst xmlns:a="http://schemas.openxmlformats.org/drawingml/2006/main">
              <a:ext uri="{FF2B5EF4-FFF2-40B4-BE49-F238E27FC236}">
                <a16:creationId xmlns:a16="http://schemas.microsoft.com/office/drawing/2014/main" id="{4AD59D9E-DEF4-4AC5-9A67-D518E2714EA1}"/>
              </a:ext>
            </a:extLst>
          </p:cNvPr>
          <p:cNvSpPr>
            <a:spLocks xmlns:a="http://schemas.openxmlformats.org/drawingml/2006/main" noGrp="1"/>
          </p:cNvSpPr>
          <p:nvPr/>
        </p:nvSpPr>
        <p:spPr>
          <a:xfrm xmlns:a="http://schemas.openxmlformats.org/drawingml/2006/main">
            <a:off x="7886700" y="45148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769E0"/>
                </a:solidFill>
              </a:defRPr>
            </a:pPr>
            <a:r>
              <a:rPr sz="1200" b="1">
                <a:solidFill>
                  <a:srgbClr val="1769E0"/>
                </a:solidFill>
              </a:rPr>
              <a:t>WCAG checks</a:t>
            </a:r>
          </a:p>
        </p:txBody>
      </p:sp>
      <p:sp>
        <p:nvSpPr>
          <p:cNvPr id="33" name="">
            <a:extLst xmlns:a="http://schemas.openxmlformats.org/drawingml/2006/main">
              <a:ext uri="{FF2B5EF4-FFF2-40B4-BE49-F238E27FC236}">
                <a16:creationId xmlns:a16="http://schemas.microsoft.com/office/drawing/2014/main" id="{4C34AE53-0629-422A-8DE3-BD39ED09A0E3}"/>
              </a:ext>
            </a:extLst>
          </p:cNvPr>
          <p:cNvSpPr>
            <a:spLocks xmlns:a="http://schemas.openxmlformats.org/drawingml/2006/main" noGrp="1"/>
          </p:cNvSpPr>
          <p:nvPr/>
        </p:nvSpPr>
        <p:spPr>
          <a:xfrm xmlns:a="http://schemas.openxmlformats.org/drawingml/2006/main">
            <a:off x="723900" y="516255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42033"/>
                </a:solidFill>
              </a:defRPr>
            </a:pPr>
            <a:r>
              <a:rPr sz="1200" b="1">
                <a:solidFill>
                  <a:srgbClr val="142033"/>
                </a:solidFill>
              </a:rPr>
              <a:t>Outcome disparity</a:t>
            </a:r>
          </a:p>
        </p:txBody>
      </p:sp>
      <p:sp>
        <p:nvSpPr>
          <p:cNvPr id="34" name="">
            <a:extLst xmlns:a="http://schemas.openxmlformats.org/drawingml/2006/main">
              <a:ext uri="{FF2B5EF4-FFF2-40B4-BE49-F238E27FC236}">
                <a16:creationId xmlns:a16="http://schemas.microsoft.com/office/drawing/2014/main" id="{5CD43CD6-C366-42BE-A292-1AD27796887D}"/>
              </a:ext>
            </a:extLst>
          </p:cNvPr>
          <p:cNvSpPr>
            <a:spLocks xmlns:a="http://schemas.openxmlformats.org/drawingml/2006/main" noGrp="1"/>
          </p:cNvSpPr>
          <p:nvPr/>
        </p:nvSpPr>
        <p:spPr>
          <a:xfrm xmlns:a="http://schemas.openxmlformats.org/drawingml/2006/main">
            <a:off x="3886200" y="516255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42033"/>
                </a:solidFill>
              </a:defRPr>
            </a:pPr>
            <a:r>
              <a:rPr sz="1200" b="0">
                <a:solidFill>
                  <a:srgbClr val="142033"/>
                </a:solidFill>
              </a:rPr>
              <a:t>Institutional Research</a:t>
            </a:r>
          </a:p>
        </p:txBody>
      </p:sp>
      <p:sp>
        <p:nvSpPr>
          <p:cNvPr id="35" name="">
            <a:extLst xmlns:a="http://schemas.openxmlformats.org/drawingml/2006/main">
              <a:ext uri="{FF2B5EF4-FFF2-40B4-BE49-F238E27FC236}">
                <a16:creationId xmlns:a16="http://schemas.microsoft.com/office/drawing/2014/main" id="{B6A487F1-9B6B-48F8-94A6-343F9BD85375}"/>
              </a:ext>
            </a:extLst>
          </p:cNvPr>
          <p:cNvSpPr>
            <a:spLocks xmlns:a="http://schemas.openxmlformats.org/drawingml/2006/main" noGrp="1"/>
          </p:cNvSpPr>
          <p:nvPr/>
        </p:nvSpPr>
        <p:spPr>
          <a:xfrm xmlns:a="http://schemas.openxmlformats.org/drawingml/2006/main">
            <a:off x="6191250" y="51625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42033"/>
                </a:solidFill>
              </a:defRPr>
            </a:pPr>
            <a:r>
              <a:rPr sz="1200" b="0">
                <a:solidFill>
                  <a:srgbClr val="142033"/>
                </a:solidFill>
              </a:rPr>
              <a:t>Quarterly</a:t>
            </a:r>
          </a:p>
        </p:txBody>
      </p:sp>
      <p:sp>
        <p:nvSpPr>
          <p:cNvPr id="36" name="">
            <a:extLst xmlns:a="http://schemas.openxmlformats.org/drawingml/2006/main">
              <a:ext uri="{FF2B5EF4-FFF2-40B4-BE49-F238E27FC236}">
                <a16:creationId xmlns:a16="http://schemas.microsoft.com/office/drawing/2014/main" id="{A382A33A-AE9C-4FF7-A8C0-DB3B3B02B568}"/>
              </a:ext>
            </a:extLst>
          </p:cNvPr>
          <p:cNvSpPr>
            <a:spLocks xmlns:a="http://schemas.openxmlformats.org/drawingml/2006/main" noGrp="1"/>
          </p:cNvSpPr>
          <p:nvPr/>
        </p:nvSpPr>
        <p:spPr>
          <a:xfrm xmlns:a="http://schemas.openxmlformats.org/drawingml/2006/main">
            <a:off x="7886700" y="51625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769E0"/>
                </a:solidFill>
              </a:defRPr>
            </a:pPr>
            <a:r>
              <a:rPr sz="1200" b="1">
                <a:solidFill>
                  <a:srgbClr val="1769E0"/>
                </a:solidFill>
              </a:rPr>
              <a:t>Group parity</a:t>
            </a:r>
          </a:p>
        </p:txBody>
      </p:sp>
    </p:spTree>
    <p:extLst>
      <p:ext uri="{BB962C8B-B14F-4D97-AF65-F5344CB8AC3E}">
        <p14:creationId xmlns:p14="http://schemas.microsoft.com/office/powerpoint/2010/main" val="5301823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4648DFA-4E46-4063-865D-E533FDC6DF4B}"/>
              </a:ext>
            </a:extLst>
          </p:cNvPr>
          <p:cNvSpPr>
            <a:spLocks xmlns:a="http://schemas.openxmlformats.org/drawingml/2006/main" noGrp="1"/>
          </p:cNvSpPr>
          <p:nvPr/>
        </p:nvSpPr>
        <p:spPr>
          <a:xfrm xmlns:a="http://schemas.openxmlformats.org/drawingml/2006/main">
            <a:off x="609600" y="38100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1769E0"/>
                </a:solidFill>
              </a:defRPr>
            </a:pPr>
            <a:r>
              <a:rPr sz="975" b="1">
                <a:solidFill>
                  <a:srgbClr val="1769E0"/>
                </a:solidFill>
              </a:rPr>
              <a:t>07 · LIVE PROOF</a:t>
            </a:r>
          </a:p>
        </p:txBody>
      </p:sp>
      <p:sp>
        <p:nvSpPr>
          <p:cNvPr id="2" name="">
            <a:extLst xmlns:a="http://schemas.openxmlformats.org/drawingml/2006/main">
              <a:ext uri="{FF2B5EF4-FFF2-40B4-BE49-F238E27FC236}">
                <a16:creationId xmlns:a16="http://schemas.microsoft.com/office/drawing/2014/main" id="{0EECCF1A-9397-4D04-998D-1E67F96FB1C0}"/>
              </a:ext>
            </a:extLst>
          </p:cNvPr>
          <p:cNvSpPr>
            <a:spLocks xmlns:a="http://schemas.openxmlformats.org/drawingml/2006/main" noGrp="1"/>
          </p:cNvSpPr>
          <p:nvPr/>
        </p:nvSpPr>
        <p:spPr>
          <a:xfrm xmlns:a="http://schemas.openxmlformats.org/drawingml/2006/main">
            <a:off x="609600" y="74295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B1F3A"/>
                </a:solidFill>
              </a:defRPr>
            </a:pPr>
            <a:r>
              <a:rPr sz="2700" b="1">
                <a:solidFill>
                  <a:srgbClr val="0B1F3A"/>
                </a:solidFill>
              </a:rPr>
              <a:t>The three-minute judge route</a:t>
            </a:r>
          </a:p>
        </p:txBody>
      </p:sp>
      <p:sp>
        <p:nvSpPr>
          <p:cNvPr id="3" name="">
            <a:extLst xmlns:a="http://schemas.openxmlformats.org/drawingml/2006/main">
              <a:ext uri="{FF2B5EF4-FFF2-40B4-BE49-F238E27FC236}">
                <a16:creationId xmlns:a16="http://schemas.microsoft.com/office/drawing/2014/main" id="{6151A717-1D94-4123-A03C-B1D8B7D04DE9}"/>
              </a:ext>
            </a:extLst>
          </p:cNvPr>
          <p:cNvSpPr>
            <a:spLocks xmlns:a="http://schemas.openxmlformats.org/drawingml/2006/main" noGrp="1"/>
          </p:cNvSpPr>
          <p:nvPr/>
        </p:nvSpPr>
        <p:spPr>
          <a:xfrm xmlns:a="http://schemas.openxmlformats.org/drawingml/2006/main">
            <a:off x="11182350" y="40005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F6B7A"/>
                </a:solidFill>
              </a:defRPr>
            </a:pPr>
            <a:r>
              <a:rPr sz="900" b="1">
                <a:solidFill>
                  <a:srgbClr val="5F6B7A"/>
                </a:solidFill>
              </a:rPr>
              <a:t>08</a:t>
            </a:r>
          </a:p>
        </p:txBody>
      </p:sp>
      <p:sp>
        <p:nvSpPr>
          <p:cNvPr id="4" name="">
            <a:extLst xmlns:a="http://schemas.openxmlformats.org/drawingml/2006/main">
              <a:ext uri="{FF2B5EF4-FFF2-40B4-BE49-F238E27FC236}">
                <a16:creationId xmlns:a16="http://schemas.microsoft.com/office/drawing/2014/main" id="{73C6E187-38E3-415C-A303-CC6B3D358AB6}"/>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1EC"/>
            </a:solidFill>
            <a:prstDash val="solid"/>
          </a:ln>
        </p:spPr>
      </p:sp>
      <p:sp>
        <p:nvSpPr>
          <p:cNvPr id="5" name="">
            <a:extLst xmlns:a="http://schemas.openxmlformats.org/drawingml/2006/main">
              <a:ext uri="{FF2B5EF4-FFF2-40B4-BE49-F238E27FC236}">
                <a16:creationId xmlns:a16="http://schemas.microsoft.com/office/drawing/2014/main" id="{A043C312-AA31-4C1C-8B96-01A412782183}"/>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6B7A"/>
                </a:solidFill>
              </a:defRPr>
            </a:pPr>
            <a:r>
              <a:rPr sz="750" b="1">
                <a:solidFill>
                  <a:srgbClr val="5F6B7A"/>
                </a:solidFill>
              </a:rPr>
              <a:t>FURSAH · AI-POWERED WORKFORCE READINESS</a:t>
            </a:r>
          </a:p>
        </p:txBody>
      </p:sp>
      <p:sp>
        <p:nvSpPr>
          <p:cNvPr id="6" name="">
            <a:extLst xmlns:a="http://schemas.openxmlformats.org/drawingml/2006/main">
              <a:ext uri="{FF2B5EF4-FFF2-40B4-BE49-F238E27FC236}">
                <a16:creationId xmlns:a16="http://schemas.microsoft.com/office/drawing/2014/main" id="{EEB2FE7C-3E8C-4D8A-837D-39A7D47A506E}"/>
              </a:ext>
            </a:extLst>
          </p:cNvPr>
          <p:cNvSpPr>
            <a:spLocks xmlns:a="http://schemas.openxmlformats.org/drawingml/2006/main" noGrp="1"/>
          </p:cNvSpPr>
          <p:nvPr/>
        </p:nvSpPr>
        <p:spPr>
          <a:xfrm xmlns:a="http://schemas.openxmlformats.org/drawingml/2006/main">
            <a:off x="609600" y="1809750"/>
            <a:ext cx="2362200" cy="165735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8E1EC"/>
            </a:solidFill>
            <a:prstDash val="solid"/>
          </a:ln>
        </p:spPr>
      </p:sp>
      <p:sp>
        <p:nvSpPr>
          <p:cNvPr id="7" name="">
            <a:extLst xmlns:a="http://schemas.openxmlformats.org/drawingml/2006/main">
              <a:ext uri="{FF2B5EF4-FFF2-40B4-BE49-F238E27FC236}">
                <a16:creationId xmlns:a16="http://schemas.microsoft.com/office/drawing/2014/main" id="{74BE54FE-4791-4F55-881D-56E4E473B26A}"/>
              </a:ext>
            </a:extLst>
          </p:cNvPr>
          <p:cNvSpPr>
            <a:spLocks xmlns:a="http://schemas.openxmlformats.org/drawingml/2006/main" noGrp="1"/>
          </p:cNvSpPr>
          <p:nvPr/>
        </p:nvSpPr>
        <p:spPr>
          <a:xfrm xmlns:a="http://schemas.openxmlformats.org/drawingml/2006/main">
            <a:off x="781050" y="19812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769E0"/>
                </a:solidFill>
              </a:defRPr>
            </a:pPr>
            <a:r>
              <a:rPr sz="900" b="1">
                <a:solidFill>
                  <a:srgbClr val="1769E0"/>
                </a:solidFill>
              </a:rPr>
              <a:t>01</a:t>
            </a:r>
          </a:p>
        </p:txBody>
      </p:sp>
      <p:sp>
        <p:nvSpPr>
          <p:cNvPr id="8" name="">
            <a:extLst xmlns:a="http://schemas.openxmlformats.org/drawingml/2006/main">
              <a:ext uri="{FF2B5EF4-FFF2-40B4-BE49-F238E27FC236}">
                <a16:creationId xmlns:a16="http://schemas.microsoft.com/office/drawing/2014/main" id="{BE46F79D-9391-4F06-8F72-435CDA0C4A15}"/>
              </a:ext>
            </a:extLst>
          </p:cNvPr>
          <p:cNvSpPr>
            <a:spLocks xmlns:a="http://schemas.openxmlformats.org/drawingml/2006/main" noGrp="1"/>
          </p:cNvSpPr>
          <p:nvPr/>
        </p:nvSpPr>
        <p:spPr>
          <a:xfrm xmlns:a="http://schemas.openxmlformats.org/drawingml/2006/main">
            <a:off x="781050" y="23431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1F3A"/>
                </a:solidFill>
              </a:defRPr>
            </a:pPr>
            <a:r>
              <a:rPr sz="1800" b="1">
                <a:solidFill>
                  <a:srgbClr val="0B1F3A"/>
                </a:solidFill>
              </a:rPr>
              <a:t>Open</a:t>
            </a:r>
          </a:p>
        </p:txBody>
      </p:sp>
      <p:sp>
        <p:nvSpPr>
          <p:cNvPr id="9" name="">
            <a:extLst xmlns:a="http://schemas.openxmlformats.org/drawingml/2006/main">
              <a:ext uri="{FF2B5EF4-FFF2-40B4-BE49-F238E27FC236}">
                <a16:creationId xmlns:a16="http://schemas.microsoft.com/office/drawing/2014/main" id="{53C29441-D754-4CBB-81BB-E9D1359376F1}"/>
              </a:ext>
            </a:extLst>
          </p:cNvPr>
          <p:cNvSpPr>
            <a:spLocks xmlns:a="http://schemas.openxmlformats.org/drawingml/2006/main" noGrp="1"/>
          </p:cNvSpPr>
          <p:nvPr/>
        </p:nvSpPr>
        <p:spPr>
          <a:xfrm xmlns:a="http://schemas.openxmlformats.org/drawingml/2006/main">
            <a:off x="781050" y="28194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5F6B7A"/>
                </a:solidFill>
              </a:defRPr>
            </a:pPr>
            <a:r>
              <a:rPr sz="1125" b="1">
                <a:solidFill>
                  <a:srgbClr val="5F6B7A"/>
                </a:solidFill>
              </a:rPr>
              <a:t>/judge-demo</a:t>
            </a:r>
          </a:p>
        </p:txBody>
      </p:sp>
      <p:sp>
        <p:nvSpPr>
          <p:cNvPr id="10" name="">
            <a:extLst xmlns:a="http://schemas.openxmlformats.org/drawingml/2006/main">
              <a:ext uri="{FF2B5EF4-FFF2-40B4-BE49-F238E27FC236}">
                <a16:creationId xmlns:a16="http://schemas.microsoft.com/office/drawing/2014/main" id="{1D360A9B-DDC9-4BBC-A1BF-3A6E4664ECE9}"/>
              </a:ext>
            </a:extLst>
          </p:cNvPr>
          <p:cNvSpPr>
            <a:spLocks xmlns:a="http://schemas.openxmlformats.org/drawingml/2006/main" noGrp="1"/>
          </p:cNvSpPr>
          <p:nvPr/>
        </p:nvSpPr>
        <p:spPr>
          <a:xfrm xmlns:a="http://schemas.openxmlformats.org/drawingml/2006/main">
            <a:off x="3257550" y="1809750"/>
            <a:ext cx="2362200" cy="165735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8E1EC"/>
            </a:solidFill>
            <a:prstDash val="solid"/>
          </a:ln>
        </p:spPr>
      </p:sp>
      <p:sp>
        <p:nvSpPr>
          <p:cNvPr id="11" name="">
            <a:extLst xmlns:a="http://schemas.openxmlformats.org/drawingml/2006/main">
              <a:ext uri="{FF2B5EF4-FFF2-40B4-BE49-F238E27FC236}">
                <a16:creationId xmlns:a16="http://schemas.microsoft.com/office/drawing/2014/main" id="{DE4F9CB7-8B7A-44DB-B487-BBCA863C2902}"/>
              </a:ext>
            </a:extLst>
          </p:cNvPr>
          <p:cNvSpPr>
            <a:spLocks xmlns:a="http://schemas.openxmlformats.org/drawingml/2006/main" noGrp="1"/>
          </p:cNvSpPr>
          <p:nvPr/>
        </p:nvSpPr>
        <p:spPr>
          <a:xfrm xmlns:a="http://schemas.openxmlformats.org/drawingml/2006/main">
            <a:off x="3429000" y="19812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769E0"/>
                </a:solidFill>
              </a:defRPr>
            </a:pPr>
            <a:r>
              <a:rPr sz="900" b="1">
                <a:solidFill>
                  <a:srgbClr val="1769E0"/>
                </a:solidFill>
              </a:rPr>
              <a:t>02</a:t>
            </a:r>
          </a:p>
        </p:txBody>
      </p:sp>
      <p:sp>
        <p:nvSpPr>
          <p:cNvPr id="12" name="">
            <a:extLst xmlns:a="http://schemas.openxmlformats.org/drawingml/2006/main">
              <a:ext uri="{FF2B5EF4-FFF2-40B4-BE49-F238E27FC236}">
                <a16:creationId xmlns:a16="http://schemas.microsoft.com/office/drawing/2014/main" id="{2AC17283-D99A-4FEE-9074-424601655DAD}"/>
              </a:ext>
            </a:extLst>
          </p:cNvPr>
          <p:cNvSpPr>
            <a:spLocks xmlns:a="http://schemas.openxmlformats.org/drawingml/2006/main" noGrp="1"/>
          </p:cNvSpPr>
          <p:nvPr/>
        </p:nvSpPr>
        <p:spPr>
          <a:xfrm xmlns:a="http://schemas.openxmlformats.org/drawingml/2006/main">
            <a:off x="3429000" y="23431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1F3A"/>
                </a:solidFill>
              </a:defRPr>
            </a:pPr>
            <a:r>
              <a:rPr sz="1800" b="1">
                <a:solidFill>
                  <a:srgbClr val="0B1F3A"/>
                </a:solidFill>
              </a:rPr>
              <a:t>Inspect</a:t>
            </a:r>
          </a:p>
        </p:txBody>
      </p:sp>
      <p:sp>
        <p:nvSpPr>
          <p:cNvPr id="13" name="">
            <a:extLst xmlns:a="http://schemas.openxmlformats.org/drawingml/2006/main">
              <a:ext uri="{FF2B5EF4-FFF2-40B4-BE49-F238E27FC236}">
                <a16:creationId xmlns:a16="http://schemas.microsoft.com/office/drawing/2014/main" id="{E69606F2-1389-4CC1-AA7B-97BC7B27C4C1}"/>
              </a:ext>
            </a:extLst>
          </p:cNvPr>
          <p:cNvSpPr>
            <a:spLocks xmlns:a="http://schemas.openxmlformats.org/drawingml/2006/main" noGrp="1"/>
          </p:cNvSpPr>
          <p:nvPr/>
        </p:nvSpPr>
        <p:spPr>
          <a:xfrm xmlns:a="http://schemas.openxmlformats.org/drawingml/2006/main">
            <a:off x="3429000" y="28194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5F6B7A"/>
                </a:solidFill>
              </a:defRPr>
            </a:pPr>
            <a:r>
              <a:rPr sz="1125" b="1">
                <a:solidFill>
                  <a:srgbClr val="5F6B7A"/>
                </a:solidFill>
              </a:rPr>
              <a:t>/standards</a:t>
            </a:r>
          </a:p>
        </p:txBody>
      </p:sp>
      <p:sp>
        <p:nvSpPr>
          <p:cNvPr id="14" name="">
            <a:extLst xmlns:a="http://schemas.openxmlformats.org/drawingml/2006/main">
              <a:ext uri="{FF2B5EF4-FFF2-40B4-BE49-F238E27FC236}">
                <a16:creationId xmlns:a16="http://schemas.microsoft.com/office/drawing/2014/main" id="{CCE91D76-AD51-44CF-AAEC-B3B512B7864C}"/>
              </a:ext>
            </a:extLst>
          </p:cNvPr>
          <p:cNvSpPr>
            <a:spLocks xmlns:a="http://schemas.openxmlformats.org/drawingml/2006/main" noGrp="1"/>
          </p:cNvSpPr>
          <p:nvPr/>
        </p:nvSpPr>
        <p:spPr>
          <a:xfrm xmlns:a="http://schemas.openxmlformats.org/drawingml/2006/main">
            <a:off x="5905500" y="1809750"/>
            <a:ext cx="2362200" cy="165735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8E1EC"/>
            </a:solidFill>
            <a:prstDash val="solid"/>
          </a:ln>
        </p:spPr>
      </p:sp>
      <p:sp>
        <p:nvSpPr>
          <p:cNvPr id="15" name="">
            <a:extLst xmlns:a="http://schemas.openxmlformats.org/drawingml/2006/main">
              <a:ext uri="{FF2B5EF4-FFF2-40B4-BE49-F238E27FC236}">
                <a16:creationId xmlns:a16="http://schemas.microsoft.com/office/drawing/2014/main" id="{4AAD6635-DC0D-4616-A8AE-5BC346EB91AE}"/>
              </a:ext>
            </a:extLst>
          </p:cNvPr>
          <p:cNvSpPr>
            <a:spLocks xmlns:a="http://schemas.openxmlformats.org/drawingml/2006/main" noGrp="1"/>
          </p:cNvSpPr>
          <p:nvPr/>
        </p:nvSpPr>
        <p:spPr>
          <a:xfrm xmlns:a="http://schemas.openxmlformats.org/drawingml/2006/main">
            <a:off x="6076950" y="19812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769E0"/>
                </a:solidFill>
              </a:defRPr>
            </a:pPr>
            <a:r>
              <a:rPr sz="900" b="1">
                <a:solidFill>
                  <a:srgbClr val="1769E0"/>
                </a:solidFill>
              </a:rPr>
              <a:t>03</a:t>
            </a:r>
          </a:p>
        </p:txBody>
      </p:sp>
      <p:sp>
        <p:nvSpPr>
          <p:cNvPr id="16" name="">
            <a:extLst xmlns:a="http://schemas.openxmlformats.org/drawingml/2006/main">
              <a:ext uri="{FF2B5EF4-FFF2-40B4-BE49-F238E27FC236}">
                <a16:creationId xmlns:a16="http://schemas.microsoft.com/office/drawing/2014/main" id="{519A3168-1A52-4BAF-A196-B7F581317A5F}"/>
              </a:ext>
            </a:extLst>
          </p:cNvPr>
          <p:cNvSpPr>
            <a:spLocks xmlns:a="http://schemas.openxmlformats.org/drawingml/2006/main" noGrp="1"/>
          </p:cNvSpPr>
          <p:nvPr/>
        </p:nvSpPr>
        <p:spPr>
          <a:xfrm xmlns:a="http://schemas.openxmlformats.org/drawingml/2006/main">
            <a:off x="6076950" y="23431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1F3A"/>
                </a:solidFill>
              </a:defRPr>
            </a:pPr>
            <a:r>
              <a:rPr sz="1800" b="1">
                <a:solidFill>
                  <a:srgbClr val="0B1F3A"/>
                </a:solidFill>
              </a:rPr>
              <a:t>Export</a:t>
            </a:r>
          </a:p>
        </p:txBody>
      </p:sp>
      <p:sp>
        <p:nvSpPr>
          <p:cNvPr id="17" name="">
            <a:extLst xmlns:a="http://schemas.openxmlformats.org/drawingml/2006/main">
              <a:ext uri="{FF2B5EF4-FFF2-40B4-BE49-F238E27FC236}">
                <a16:creationId xmlns:a16="http://schemas.microsoft.com/office/drawing/2014/main" id="{854D063D-E42A-4AB5-9210-5E2052DC0A91}"/>
              </a:ext>
            </a:extLst>
          </p:cNvPr>
          <p:cNvSpPr>
            <a:spLocks xmlns:a="http://schemas.openxmlformats.org/drawingml/2006/main" noGrp="1"/>
          </p:cNvSpPr>
          <p:nvPr/>
        </p:nvSpPr>
        <p:spPr>
          <a:xfrm xmlns:a="http://schemas.openxmlformats.org/drawingml/2006/main">
            <a:off x="6076950" y="28194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5F6B7A"/>
                </a:solidFill>
              </a:defRPr>
            </a:pPr>
            <a:r>
              <a:rPr sz="1125" b="1">
                <a:solidFill>
                  <a:srgbClr val="5F6B7A"/>
                </a:solidFill>
              </a:rPr>
              <a:t>/knowledge-base</a:t>
            </a:r>
          </a:p>
        </p:txBody>
      </p:sp>
      <p:sp>
        <p:nvSpPr>
          <p:cNvPr id="18" name="">
            <a:extLst xmlns:a="http://schemas.openxmlformats.org/drawingml/2006/main">
              <a:ext uri="{FF2B5EF4-FFF2-40B4-BE49-F238E27FC236}">
                <a16:creationId xmlns:a16="http://schemas.microsoft.com/office/drawing/2014/main" id="{30445290-3A56-4C7A-B955-ABD63B117B36}"/>
              </a:ext>
            </a:extLst>
          </p:cNvPr>
          <p:cNvSpPr>
            <a:spLocks xmlns:a="http://schemas.openxmlformats.org/drawingml/2006/main" noGrp="1"/>
          </p:cNvSpPr>
          <p:nvPr/>
        </p:nvSpPr>
        <p:spPr>
          <a:xfrm xmlns:a="http://schemas.openxmlformats.org/drawingml/2006/main">
            <a:off x="8553450" y="1809750"/>
            <a:ext cx="2362200" cy="1657350"/>
          </a:xfrm>
          <a:prstGeom xmlns:a="http://schemas.openxmlformats.org/drawingml/2006/main" prst="roundRect">
            <a:avLst>
              <a:gd name="adj" fmla="val 6897"/>
            </a:avLst>
          </a:prstGeom>
          <a:solidFill xmlns:a="http://schemas.openxmlformats.org/drawingml/2006/main">
            <a:srgbClr val="1769E0"/>
          </a:solidFill>
          <a:ln xmlns:a="http://schemas.openxmlformats.org/drawingml/2006/main" w="9525">
            <a:solidFill>
              <a:srgbClr val="D8E1EC"/>
            </a:solidFill>
            <a:prstDash val="solid"/>
          </a:ln>
        </p:spPr>
      </p:sp>
      <p:sp>
        <p:nvSpPr>
          <p:cNvPr id="19" name="">
            <a:extLst xmlns:a="http://schemas.openxmlformats.org/drawingml/2006/main">
              <a:ext uri="{FF2B5EF4-FFF2-40B4-BE49-F238E27FC236}">
                <a16:creationId xmlns:a16="http://schemas.microsoft.com/office/drawing/2014/main" id="{002BCB6B-2073-4932-AB64-EB686A5070B9}"/>
              </a:ext>
            </a:extLst>
          </p:cNvPr>
          <p:cNvSpPr>
            <a:spLocks xmlns:a="http://schemas.openxmlformats.org/drawingml/2006/main" noGrp="1"/>
          </p:cNvSpPr>
          <p:nvPr/>
        </p:nvSpPr>
        <p:spPr>
          <a:xfrm xmlns:a="http://schemas.openxmlformats.org/drawingml/2006/main">
            <a:off x="8724900" y="19812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04</a:t>
            </a:r>
          </a:p>
        </p:txBody>
      </p:sp>
      <p:sp>
        <p:nvSpPr>
          <p:cNvPr id="20" name="">
            <a:extLst xmlns:a="http://schemas.openxmlformats.org/drawingml/2006/main">
              <a:ext uri="{FF2B5EF4-FFF2-40B4-BE49-F238E27FC236}">
                <a16:creationId xmlns:a16="http://schemas.microsoft.com/office/drawing/2014/main" id="{399E455D-B856-4829-9D8F-F88383D03382}"/>
              </a:ext>
            </a:extLst>
          </p:cNvPr>
          <p:cNvSpPr>
            <a:spLocks xmlns:a="http://schemas.openxmlformats.org/drawingml/2006/main" noGrp="1"/>
          </p:cNvSpPr>
          <p:nvPr/>
        </p:nvSpPr>
        <p:spPr>
          <a:xfrm xmlns:a="http://schemas.openxmlformats.org/drawingml/2006/main">
            <a:off x="8724900" y="23431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FFFFFF"/>
                </a:solidFill>
              </a:defRPr>
            </a:pPr>
            <a:r>
              <a:rPr sz="1800" b="1">
                <a:solidFill>
                  <a:srgbClr val="FFFFFF"/>
                </a:solidFill>
              </a:rPr>
              <a:t>Ask</a:t>
            </a:r>
          </a:p>
        </p:txBody>
      </p:sp>
      <p:sp>
        <p:nvSpPr>
          <p:cNvPr id="21" name="">
            <a:extLst xmlns:a="http://schemas.openxmlformats.org/drawingml/2006/main">
              <a:ext uri="{FF2B5EF4-FFF2-40B4-BE49-F238E27FC236}">
                <a16:creationId xmlns:a16="http://schemas.microsoft.com/office/drawing/2014/main" id="{A56C3FCC-7425-42F3-95CE-AE979F8972F2}"/>
              </a:ext>
            </a:extLst>
          </p:cNvPr>
          <p:cNvSpPr>
            <a:spLocks xmlns:a="http://schemas.openxmlformats.org/drawingml/2006/main" noGrp="1"/>
          </p:cNvSpPr>
          <p:nvPr/>
        </p:nvSpPr>
        <p:spPr>
          <a:xfrm xmlns:a="http://schemas.openxmlformats.org/drawingml/2006/main">
            <a:off x="8724900" y="28194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FFFFFF"/>
                </a:solidFill>
              </a:defRPr>
            </a:pPr>
            <a:r>
              <a:rPr sz="1125" b="1">
                <a:solidFill>
                  <a:srgbClr val="FFFFFF"/>
                </a:solidFill>
              </a:rPr>
              <a:t>grounded assistant</a:t>
            </a:r>
          </a:p>
        </p:txBody>
      </p:sp>
      <p:sp>
        <p:nvSpPr>
          <p:cNvPr id="22" name="">
            <a:extLst xmlns:a="http://schemas.openxmlformats.org/drawingml/2006/main">
              <a:ext uri="{FF2B5EF4-FFF2-40B4-BE49-F238E27FC236}">
                <a16:creationId xmlns:a16="http://schemas.microsoft.com/office/drawing/2014/main" id="{EA9C54E7-ADE2-4A3C-B05C-EA311BDE4B76}"/>
              </a:ext>
            </a:extLst>
          </p:cNvPr>
          <p:cNvSpPr>
            <a:spLocks xmlns:a="http://schemas.openxmlformats.org/drawingml/2006/main" noGrp="1"/>
          </p:cNvSpPr>
          <p:nvPr/>
        </p:nvSpPr>
        <p:spPr>
          <a:xfrm xmlns:a="http://schemas.openxmlformats.org/drawingml/2006/main">
            <a:off x="609600" y="4000500"/>
            <a:ext cx="571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0B1F3A"/>
                </a:solidFill>
              </a:defRPr>
            </a:pPr>
            <a:r>
              <a:rPr sz="1875" b="1">
                <a:solidFill>
                  <a:srgbClr val="0B1F3A"/>
                </a:solidFill>
              </a:rPr>
              <a:t>What remains before a real-world claim</a:t>
            </a:r>
          </a:p>
        </p:txBody>
      </p:sp>
      <p:sp>
        <p:nvSpPr>
          <p:cNvPr id="23" name="">
            <a:extLst xmlns:a="http://schemas.openxmlformats.org/drawingml/2006/main">
              <a:ext uri="{FF2B5EF4-FFF2-40B4-BE49-F238E27FC236}">
                <a16:creationId xmlns:a16="http://schemas.microsoft.com/office/drawing/2014/main" id="{324B8FFD-3E97-4843-9792-5CCE05D3CC76}"/>
              </a:ext>
            </a:extLst>
          </p:cNvPr>
          <p:cNvSpPr>
            <a:spLocks xmlns:a="http://schemas.openxmlformats.org/drawingml/2006/main" noGrp="1"/>
          </p:cNvSpPr>
          <p:nvPr/>
        </p:nvSpPr>
        <p:spPr>
          <a:xfrm xmlns:a="http://schemas.openxmlformats.org/drawingml/2006/main">
            <a:off x="609600" y="4457700"/>
            <a:ext cx="990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5F6B7A"/>
                </a:solidFill>
              </a:defRPr>
            </a:pPr>
            <a:r>
              <a:rPr sz="1500" b="0">
                <a:solidFill>
                  <a:srgbClr val="5F6B7A"/>
                </a:solidFill>
              </a:rPr>
              <a:t>A controlled pilot with institutional users, measured outcomes and external governance review. The prototype labels this limitation explicitly.</a:t>
            </a:r>
          </a:p>
        </p:txBody>
      </p:sp>
      <p:sp>
        <p:nvSpPr>
          <p:cNvPr id="24" name="">
            <a:extLst xmlns:a="http://schemas.openxmlformats.org/drawingml/2006/main">
              <a:ext uri="{FF2B5EF4-FFF2-40B4-BE49-F238E27FC236}">
                <a16:creationId xmlns:a16="http://schemas.microsoft.com/office/drawing/2014/main" id="{55C82A79-2D31-41F5-91C4-ECF610B8949E}"/>
              </a:ext>
            </a:extLst>
          </p:cNvPr>
          <p:cNvSpPr>
            <a:spLocks xmlns:a="http://schemas.openxmlformats.org/drawingml/2006/main" noGrp="1"/>
          </p:cNvSpPr>
          <p:nvPr/>
        </p:nvSpPr>
        <p:spPr>
          <a:xfrm xmlns:a="http://schemas.openxmlformats.org/drawingml/2006/main">
            <a:off x="609600" y="5410200"/>
            <a:ext cx="10401300" cy="590550"/>
          </a:xfrm>
          <a:prstGeom xmlns:a="http://schemas.openxmlformats.org/drawingml/2006/main" prst="roundRect">
            <a:avLst>
              <a:gd name="adj" fmla="val 12903"/>
            </a:avLst>
          </a:prstGeom>
          <a:solidFill xmlns:a="http://schemas.openxmlformats.org/drawingml/2006/main">
            <a:srgbClr val="0B1F3A"/>
          </a:solidFill>
          <a:ln xmlns:a="http://schemas.openxmlformats.org/drawingml/2006/main" w="9525">
            <a:solidFill>
              <a:srgbClr val="0B1F3A"/>
            </a:solidFill>
            <a:prstDash val="solid"/>
          </a:ln>
        </p:spPr>
      </p:sp>
      <p:sp>
        <p:nvSpPr>
          <p:cNvPr id="25" name="">
            <a:extLst xmlns:a="http://schemas.openxmlformats.org/drawingml/2006/main">
              <a:ext uri="{FF2B5EF4-FFF2-40B4-BE49-F238E27FC236}">
                <a16:creationId xmlns:a16="http://schemas.microsoft.com/office/drawing/2014/main" id="{7F091189-BD7D-44B5-8FF6-9DC949A33737}"/>
              </a:ext>
            </a:extLst>
          </p:cNvPr>
          <p:cNvSpPr>
            <a:spLocks xmlns:a="http://schemas.openxmlformats.org/drawingml/2006/main" noGrp="1"/>
          </p:cNvSpPr>
          <p:nvPr/>
        </p:nvSpPr>
        <p:spPr>
          <a:xfrm xmlns:a="http://schemas.openxmlformats.org/drawingml/2006/main">
            <a:off x="800100" y="5524500"/>
            <a:ext cx="1002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FFFFFF"/>
                </a:solidFill>
              </a:defRPr>
            </a:pPr>
            <a:r>
              <a:rPr sz="1725" b="1">
                <a:solidFill>
                  <a:srgbClr val="FFFFFF"/>
                </a:solidFill>
              </a:rPr>
              <a:t>Fursah makes readiness evidence actionable—and every important claim inspectable.</a:t>
            </a:r>
          </a:p>
        </p:txBody>
      </p:sp>
    </p:spTree>
    <p:extLst>
      <p:ext uri="{BB962C8B-B14F-4D97-AF65-F5344CB8AC3E}">
        <p14:creationId xmlns:p14="http://schemas.microsoft.com/office/powerpoint/2010/main" val="7533927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2026-08-21T18:34:38.7820000Z</dcterms:created>
  <dcterms:modified xsi:type="dcterms:W3CDTF">2026-08-21T18:34:38.7820000Z</dcterms:modified>
</coreProperties>
</file>